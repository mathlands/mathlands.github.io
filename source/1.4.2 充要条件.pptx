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</p:sldMasterIdLst>
  <p:notesMasterIdLst>
    <p:notesMasterId r:id="rId8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新课标第一网" initials="新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0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7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image" Target="../media/image39.wmf"/><Relationship Id="rId7" Type="http://schemas.openxmlformats.org/officeDocument/2006/relationships/image" Target="../media/image38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6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2" Type="http://schemas.openxmlformats.org/officeDocument/2006/relationships/image" Target="../media/image70.wmf"/><Relationship Id="rId11" Type="http://schemas.openxmlformats.org/officeDocument/2006/relationships/image" Target="../media/image69.wmf"/><Relationship Id="rId10" Type="http://schemas.openxmlformats.org/officeDocument/2006/relationships/image" Target="../media/image68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77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wmf"/><Relationship Id="rId8" Type="http://schemas.openxmlformats.org/officeDocument/2006/relationships/image" Target="../media/image100.wmf"/><Relationship Id="rId7" Type="http://schemas.openxmlformats.org/officeDocument/2006/relationships/image" Target="../media/image99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2" Type="http://schemas.openxmlformats.org/officeDocument/2006/relationships/image" Target="../media/image104.wmf"/><Relationship Id="rId11" Type="http://schemas.openxmlformats.org/officeDocument/2006/relationships/image" Target="../media/image103.wmf"/><Relationship Id="rId10" Type="http://schemas.openxmlformats.org/officeDocument/2006/relationships/image" Target="../media/image102.wmf"/><Relationship Id="rId1" Type="http://schemas.openxmlformats.org/officeDocument/2006/relationships/image" Target="../media/image9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0898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80899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76802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4994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17762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7042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9090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1138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05474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3186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5234" name="文本占位符 2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en-US" altLang="zh-CN"/>
              <a:t> </a:t>
            </a:r>
            <a:r>
              <a:rPr lang="zh-CN" altLang="en-US"/>
              <a:t>命题的分类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8306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9830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/>
            <a:fld id="{9A0DB2DC-4C9A-4742-B13C-FB6460FD3503}" type="slidenum">
              <a:rPr lang="zh-CN" altLang="en-US" sz="130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3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fontAlgn="base"/>
            <a:endParaRPr lang="zh-CN" altLang="en-US" sz="6600" b="1" strike="noStrike" noProof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fontAlgn="base"/>
            <a:endParaRPr lang="zh-CN" altLang="en-US" sz="6600" b="1" strike="noStrike" noProof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fontAlgn="base"/>
            <a:endParaRPr lang="zh-CN" altLang="en-US" sz="6600" b="1" strike="noStrike" noProof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10025063" y="0"/>
            <a:ext cx="617538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10025063" y="5211763"/>
            <a:ext cx="617538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3812" y="3238500"/>
            <a:ext cx="122396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fontAlgn="base"/>
            <a:endParaRPr lang="zh-CN" altLang="en-US" sz="6600" b="1" strike="noStrike" noProof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936980"/>
            <a:ext cx="42624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edge/>
      </p:transition>
    </mc:Choice>
    <mc:Fallback>
      <p:transition>
        <p:wedg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61983" y="2149475"/>
            <a:ext cx="7068035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561982" y="4054651"/>
            <a:ext cx="7068036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smtClean="0"/>
              <a:t>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377243"/>
            <a:ext cx="7886699" cy="4673600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9042400" y="0"/>
            <a:ext cx="463550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z="1800" strike="noStrike" noProof="1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9042400" y="5211763"/>
            <a:ext cx="463550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defRPr/>
            </a:pPr>
            <a:endParaRPr lang="zh-CN" altLang="en-US" sz="1800" strike="noStrike" noProof="1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152650" y="3721629"/>
            <a:ext cx="635511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140959" y="1273445"/>
            <a:ext cx="7898391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152650" y="3894667"/>
            <a:ext cx="7898391" cy="2323253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53842" y="128215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153842" y="2106067"/>
            <a:ext cx="3868340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53150" y="128215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53150" y="2106067"/>
            <a:ext cx="3887391" cy="4028726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506538" y="3238500"/>
            <a:ext cx="91789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fontAlgn="base"/>
            <a:endParaRPr lang="zh-CN" altLang="en-US" sz="6600" b="1" strike="noStrike" noProof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550356" y="2400300"/>
            <a:ext cx="5091289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pPr fontAlgn="auto"/>
            <a:r>
              <a:rPr lang="zh-CN" altLang="en-US" strike="noStrike" noProof="1" smtClean="0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53841" y="936980"/>
            <a:ext cx="3196800" cy="1600200"/>
          </a:xfrm>
        </p:spPr>
        <p:txBody>
          <a:bodyPr anchor="t" anchorCtr="0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38391" y="959205"/>
            <a:ext cx="4478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53841" y="253718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0994" y="365125"/>
            <a:ext cx="1278356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152650" y="365125"/>
            <a:ext cx="6427871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2152650" y="529068"/>
            <a:ext cx="7886700" cy="5575095"/>
          </a:xfrm>
        </p:spPr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6" Type="http://schemas.openxmlformats.org/officeDocument/2006/relationships/theme" Target="../theme/theme3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4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6" Type="http://schemas.openxmlformats.org/officeDocument/2006/relationships/theme" Target="../theme/theme5.xml"/><Relationship Id="rId15" Type="http://schemas.openxmlformats.org/officeDocument/2006/relationships/image" Target="file:///D:\qq&#25991;&#20214;\712321467\Image\C2C\Image2\%7b75232B38-A165-1FB7-499C-2E1C792CACB5%7d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文本占位符 2"/>
          <p:cNvSpPr>
            <a:spLocks noGrp="1"/>
          </p:cNvSpPr>
          <p:nvPr>
            <p:ph type="body" idx="5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4100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wedg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5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2052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ransition>
    <p:wedg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47" name="文本占位符 2"/>
          <p:cNvSpPr>
            <a:spLocks noGrp="1"/>
          </p:cNvSpPr>
          <p:nvPr>
            <p:ph type="body" idx="5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6148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ransition>
    <p:wedg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6938963" cy="82391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47" name="文本占位符 2"/>
          <p:cNvSpPr>
            <a:spLocks noGrp="1"/>
          </p:cNvSpPr>
          <p:nvPr>
            <p:ph type="body" idx="5"/>
            <p:custDataLst>
              <p:tags r:id="rId13"/>
            </p:custDataLst>
          </p:nvPr>
        </p:nvSpPr>
        <p:spPr>
          <a:xfrm>
            <a:off x="838200" y="1095375"/>
            <a:ext cx="10515600" cy="5170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6148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transition>
    <p:wedg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524000" y="0"/>
            <a:ext cx="5203825" cy="82391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23" name="文本占位符 2"/>
          <p:cNvSpPr>
            <a:spLocks noGrp="1"/>
          </p:cNvSpPr>
          <p:nvPr>
            <p:ph type="body" idx="5"/>
            <p:custDataLst>
              <p:tags r:id="rId13"/>
            </p:custDataLst>
          </p:nvPr>
        </p:nvSpPr>
        <p:spPr>
          <a:xfrm>
            <a:off x="2152650" y="1095375"/>
            <a:ext cx="7886700" cy="517048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152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C0969DF5-CE6F-460D-85D3-AC9F3B21A050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52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981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F7F28AF-5BE0-4465-9148-1AC3FCF059DB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5124" name="图片 1073743875" descr="学科网 zxxk.com"/>
          <p:cNvPicPr>
            <a:picLocks noChangeAspect="1"/>
          </p:cNvPicPr>
          <p:nvPr/>
        </p:nvPicPr>
        <p:blipFill>
          <a:blip r:embed="rId14" r:link="rId15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ransition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wmf"/><Relationship Id="rId8" Type="http://schemas.openxmlformats.org/officeDocument/2006/relationships/oleObject" Target="../embeddings/oleObject5.bin"/><Relationship Id="rId7" Type="http://schemas.openxmlformats.org/officeDocument/2006/relationships/oleObject" Target="../embeddings/oleObject4.bin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5.wmf"/><Relationship Id="rId27" Type="http://schemas.openxmlformats.org/officeDocument/2006/relationships/notesSlide" Target="../notesSlides/notesSlide2.xml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14.xml"/><Relationship Id="rId24" Type="http://schemas.openxmlformats.org/officeDocument/2006/relationships/tags" Target="../tags/tag23.xml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9" Type="http://schemas.openxmlformats.org/officeDocument/2006/relationships/oleObject" Target="../embeddings/oleObject13.bin"/><Relationship Id="rId18" Type="http://schemas.openxmlformats.org/officeDocument/2006/relationships/oleObject" Target="../embeddings/oleObject12.bin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10.bin"/><Relationship Id="rId14" Type="http://schemas.openxmlformats.org/officeDocument/2006/relationships/oleObject" Target="../embeddings/oleObject9.bin"/><Relationship Id="rId13" Type="http://schemas.openxmlformats.org/officeDocument/2006/relationships/oleObject" Target="../embeddings/oleObject8.bin"/><Relationship Id="rId12" Type="http://schemas.openxmlformats.org/officeDocument/2006/relationships/oleObject" Target="../embeddings/oleObject7.bin"/><Relationship Id="rId11" Type="http://schemas.openxmlformats.org/officeDocument/2006/relationships/image" Target="../media/image8.wmf"/><Relationship Id="rId10" Type="http://schemas.openxmlformats.org/officeDocument/2006/relationships/oleObject" Target="../embeddings/oleObject6.bin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oleObject" Target="../embeddings/oleObject20.bin"/><Relationship Id="rId7" Type="http://schemas.openxmlformats.org/officeDocument/2006/relationships/oleObject" Target="../embeddings/oleObject19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6.bin"/><Relationship Id="rId12" Type="http://schemas.openxmlformats.org/officeDocument/2006/relationships/notesSlide" Target="../notesSlides/notesSlide3.xml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oleObject" Target="../embeddings/oleObject25.bin"/><Relationship Id="rId7" Type="http://schemas.openxmlformats.org/officeDocument/2006/relationships/oleObject" Target="../embeddings/oleObject24.bin"/><Relationship Id="rId6" Type="http://schemas.openxmlformats.org/officeDocument/2006/relationships/oleObject" Target="../embeddings/oleObject2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21.bin"/><Relationship Id="rId18" Type="http://schemas.openxmlformats.org/officeDocument/2006/relationships/notesSlide" Target="../notesSlides/notesSlide4.xml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27.xml"/><Relationship Id="rId15" Type="http://schemas.openxmlformats.org/officeDocument/2006/relationships/tags" Target="../tags/tag25.xml"/><Relationship Id="rId14" Type="http://schemas.openxmlformats.org/officeDocument/2006/relationships/image" Target="../media/image15.png"/><Relationship Id="rId13" Type="http://schemas.openxmlformats.org/officeDocument/2006/relationships/oleObject" Target="../embeddings/oleObject30.bin"/><Relationship Id="rId12" Type="http://schemas.openxmlformats.org/officeDocument/2006/relationships/oleObject" Target="../embeddings/oleObject29.bin"/><Relationship Id="rId11" Type="http://schemas.openxmlformats.org/officeDocument/2006/relationships/oleObject" Target="../embeddings/oleObject28.bin"/><Relationship Id="rId10" Type="http://schemas.openxmlformats.org/officeDocument/2006/relationships/oleObject" Target="../embeddings/oleObject27.bin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oleObject" Target="../embeddings/oleObject34.bin"/><Relationship Id="rId7" Type="http://schemas.openxmlformats.org/officeDocument/2006/relationships/image" Target="../media/image17.wmf"/><Relationship Id="rId6" Type="http://schemas.openxmlformats.org/officeDocument/2006/relationships/oleObject" Target="../embeddings/oleObject3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32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31.bin"/><Relationship Id="rId17" Type="http://schemas.openxmlformats.org/officeDocument/2006/relationships/notesSlide" Target="../notesSlides/notesSlide5.xml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26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oleObject" Target="../embeddings/oleObject37.bin"/><Relationship Id="rId10" Type="http://schemas.openxmlformats.org/officeDocument/2006/relationships/oleObject" Target="../embeddings/oleObject36.bin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oleObject" Target="../embeddings/oleObject41.bin"/><Relationship Id="rId7" Type="http://schemas.openxmlformats.org/officeDocument/2006/relationships/image" Target="../media/image22.wmf"/><Relationship Id="rId6" Type="http://schemas.openxmlformats.org/officeDocument/2006/relationships/oleObject" Target="../embeddings/oleObject4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9.bin"/><Relationship Id="rId3" Type="http://schemas.openxmlformats.org/officeDocument/2006/relationships/image" Target="../media/image20.wmf"/><Relationship Id="rId29" Type="http://schemas.openxmlformats.org/officeDocument/2006/relationships/notesSlide" Target="../notesSlides/notesSlide6.xml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4.xml"/><Relationship Id="rId26" Type="http://schemas.openxmlformats.org/officeDocument/2006/relationships/tags" Target="../tags/tag27.xml"/><Relationship Id="rId25" Type="http://schemas.openxmlformats.org/officeDocument/2006/relationships/image" Target="../media/image31.wmf"/><Relationship Id="rId24" Type="http://schemas.openxmlformats.org/officeDocument/2006/relationships/oleObject" Target="../embeddings/oleObject49.bin"/><Relationship Id="rId23" Type="http://schemas.openxmlformats.org/officeDocument/2006/relationships/image" Target="../media/image30.wmf"/><Relationship Id="rId22" Type="http://schemas.openxmlformats.org/officeDocument/2006/relationships/oleObject" Target="../embeddings/oleObject48.bin"/><Relationship Id="rId21" Type="http://schemas.openxmlformats.org/officeDocument/2006/relationships/image" Target="../media/image29.wmf"/><Relationship Id="rId20" Type="http://schemas.openxmlformats.org/officeDocument/2006/relationships/oleObject" Target="../embeddings/oleObject47.bin"/><Relationship Id="rId2" Type="http://schemas.openxmlformats.org/officeDocument/2006/relationships/oleObject" Target="../embeddings/oleObject38.bin"/><Relationship Id="rId19" Type="http://schemas.openxmlformats.org/officeDocument/2006/relationships/image" Target="../media/image28.wmf"/><Relationship Id="rId18" Type="http://schemas.openxmlformats.org/officeDocument/2006/relationships/oleObject" Target="../embeddings/oleObject46.bin"/><Relationship Id="rId17" Type="http://schemas.openxmlformats.org/officeDocument/2006/relationships/image" Target="../media/image27.wmf"/><Relationship Id="rId16" Type="http://schemas.openxmlformats.org/officeDocument/2006/relationships/oleObject" Target="../embeddings/oleObject45.bin"/><Relationship Id="rId15" Type="http://schemas.openxmlformats.org/officeDocument/2006/relationships/image" Target="../media/image26.wmf"/><Relationship Id="rId14" Type="http://schemas.openxmlformats.org/officeDocument/2006/relationships/oleObject" Target="../embeddings/oleObject44.bin"/><Relationship Id="rId13" Type="http://schemas.openxmlformats.org/officeDocument/2006/relationships/image" Target="../media/image25.wmf"/><Relationship Id="rId12" Type="http://schemas.openxmlformats.org/officeDocument/2006/relationships/oleObject" Target="../embeddings/oleObject43.bin"/><Relationship Id="rId11" Type="http://schemas.openxmlformats.org/officeDocument/2006/relationships/image" Target="../media/image24.wmf"/><Relationship Id="rId10" Type="http://schemas.openxmlformats.org/officeDocument/2006/relationships/oleObject" Target="../embeddings/oleObject42.bin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51.bin"/><Relationship Id="rId22" Type="http://schemas.openxmlformats.org/officeDocument/2006/relationships/notesSlide" Target="../notesSlides/notesSlide7.xml"/><Relationship Id="rId21" Type="http://schemas.openxmlformats.org/officeDocument/2006/relationships/vmlDrawing" Target="../drawings/vmlDrawing6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2.wmf"/><Relationship Id="rId19" Type="http://schemas.openxmlformats.org/officeDocument/2006/relationships/tags" Target="../tags/tag28.xml"/><Relationship Id="rId18" Type="http://schemas.openxmlformats.org/officeDocument/2006/relationships/image" Target="../media/image40.wmf"/><Relationship Id="rId17" Type="http://schemas.openxmlformats.org/officeDocument/2006/relationships/oleObject" Target="../embeddings/oleObject58.bin"/><Relationship Id="rId16" Type="http://schemas.openxmlformats.org/officeDocument/2006/relationships/image" Target="../media/image39.wmf"/><Relationship Id="rId15" Type="http://schemas.openxmlformats.org/officeDocument/2006/relationships/oleObject" Target="../embeddings/oleObject57.bin"/><Relationship Id="rId14" Type="http://schemas.openxmlformats.org/officeDocument/2006/relationships/image" Target="../media/image38.wmf"/><Relationship Id="rId13" Type="http://schemas.openxmlformats.org/officeDocument/2006/relationships/oleObject" Target="../embeddings/oleObject56.bin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5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60.bin"/><Relationship Id="rId26" Type="http://schemas.openxmlformats.org/officeDocument/2006/relationships/notesSlide" Target="../notesSlides/notesSlide8.xml"/><Relationship Id="rId25" Type="http://schemas.openxmlformats.org/officeDocument/2006/relationships/vmlDrawing" Target="../drawings/vmlDrawing7.vml"/><Relationship Id="rId24" Type="http://schemas.openxmlformats.org/officeDocument/2006/relationships/slideLayout" Target="../slideLayouts/slideLayout22.xml"/><Relationship Id="rId23" Type="http://schemas.openxmlformats.org/officeDocument/2006/relationships/tags" Target="../tags/tag29.xml"/><Relationship Id="rId22" Type="http://schemas.openxmlformats.org/officeDocument/2006/relationships/image" Target="../media/image51.wmf"/><Relationship Id="rId21" Type="http://schemas.openxmlformats.org/officeDocument/2006/relationships/oleObject" Target="../embeddings/oleObject69.bin"/><Relationship Id="rId20" Type="http://schemas.openxmlformats.org/officeDocument/2006/relationships/image" Target="../media/image50.wmf"/><Relationship Id="rId2" Type="http://schemas.openxmlformats.org/officeDocument/2006/relationships/image" Target="../media/image41.wmf"/><Relationship Id="rId19" Type="http://schemas.openxmlformats.org/officeDocument/2006/relationships/oleObject" Target="../embeddings/oleObject68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67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66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45.wmf"/><Relationship Id="rId1" Type="http://schemas.openxmlformats.org/officeDocument/2006/relationships/oleObject" Target="../embeddings/oleObject5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oleObject" Target="../embeddings/oleObject73.bin"/><Relationship Id="rId7" Type="http://schemas.openxmlformats.org/officeDocument/2006/relationships/image" Target="../media/image54.wmf"/><Relationship Id="rId6" Type="http://schemas.openxmlformats.org/officeDocument/2006/relationships/oleObject" Target="../embeddings/oleObject72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71.bin"/><Relationship Id="rId3" Type="http://schemas.openxmlformats.org/officeDocument/2006/relationships/image" Target="../media/image52.wmf"/><Relationship Id="rId21" Type="http://schemas.openxmlformats.org/officeDocument/2006/relationships/notesSlide" Target="../notesSlides/notesSlide9.xml"/><Relationship Id="rId20" Type="http://schemas.openxmlformats.org/officeDocument/2006/relationships/vmlDrawing" Target="../drawings/vmlDrawing8.vml"/><Relationship Id="rId2" Type="http://schemas.openxmlformats.org/officeDocument/2006/relationships/oleObject" Target="../embeddings/oleObject70.bin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30.xml"/><Relationship Id="rId17" Type="http://schemas.openxmlformats.org/officeDocument/2006/relationships/image" Target="../media/image59.wmf"/><Relationship Id="rId16" Type="http://schemas.openxmlformats.org/officeDocument/2006/relationships/oleObject" Target="../embeddings/oleObject77.bin"/><Relationship Id="rId15" Type="http://schemas.openxmlformats.org/officeDocument/2006/relationships/image" Target="../media/image58.wmf"/><Relationship Id="rId14" Type="http://schemas.openxmlformats.org/officeDocument/2006/relationships/oleObject" Target="../embeddings/oleObject76.bin"/><Relationship Id="rId13" Type="http://schemas.openxmlformats.org/officeDocument/2006/relationships/image" Target="../media/image57.wmf"/><Relationship Id="rId12" Type="http://schemas.openxmlformats.org/officeDocument/2006/relationships/oleObject" Target="../embeddings/oleObject75.bin"/><Relationship Id="rId11" Type="http://schemas.openxmlformats.org/officeDocument/2006/relationships/image" Target="../media/image56.wmf"/><Relationship Id="rId10" Type="http://schemas.openxmlformats.org/officeDocument/2006/relationships/oleObject" Target="../embeddings/oleObject74.bin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oleObject" Target="../embeddings/oleObject81.bin"/><Relationship Id="rId7" Type="http://schemas.openxmlformats.org/officeDocument/2006/relationships/image" Target="../media/image62.wmf"/><Relationship Id="rId6" Type="http://schemas.openxmlformats.org/officeDocument/2006/relationships/oleObject" Target="../embeddings/oleObject80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79.bin"/><Relationship Id="rId30" Type="http://schemas.openxmlformats.org/officeDocument/2006/relationships/notesSlide" Target="../notesSlides/notesSlide10.xml"/><Relationship Id="rId3" Type="http://schemas.openxmlformats.org/officeDocument/2006/relationships/image" Target="../media/image60.wmf"/><Relationship Id="rId29" Type="http://schemas.openxmlformats.org/officeDocument/2006/relationships/vmlDrawing" Target="../drawings/vmlDrawing9.vml"/><Relationship Id="rId28" Type="http://schemas.openxmlformats.org/officeDocument/2006/relationships/slideLayout" Target="../slideLayouts/slideLayout4.xml"/><Relationship Id="rId27" Type="http://schemas.openxmlformats.org/officeDocument/2006/relationships/tags" Target="../tags/tag31.xml"/><Relationship Id="rId26" Type="http://schemas.openxmlformats.org/officeDocument/2006/relationships/oleObject" Target="../embeddings/oleObject90.bin"/><Relationship Id="rId25" Type="http://schemas.openxmlformats.org/officeDocument/2006/relationships/image" Target="../media/image70.wmf"/><Relationship Id="rId24" Type="http://schemas.openxmlformats.org/officeDocument/2006/relationships/oleObject" Target="../embeddings/oleObject89.bin"/><Relationship Id="rId23" Type="http://schemas.openxmlformats.org/officeDocument/2006/relationships/image" Target="../media/image69.wmf"/><Relationship Id="rId22" Type="http://schemas.openxmlformats.org/officeDocument/2006/relationships/oleObject" Target="../embeddings/oleObject88.bin"/><Relationship Id="rId21" Type="http://schemas.openxmlformats.org/officeDocument/2006/relationships/image" Target="../media/image68.wmf"/><Relationship Id="rId20" Type="http://schemas.openxmlformats.org/officeDocument/2006/relationships/oleObject" Target="../embeddings/oleObject87.bin"/><Relationship Id="rId2" Type="http://schemas.openxmlformats.org/officeDocument/2006/relationships/oleObject" Target="../embeddings/oleObject78.bin"/><Relationship Id="rId19" Type="http://schemas.openxmlformats.org/officeDocument/2006/relationships/image" Target="../media/image13.wmf"/><Relationship Id="rId18" Type="http://schemas.openxmlformats.org/officeDocument/2006/relationships/oleObject" Target="../embeddings/oleObject86.bin"/><Relationship Id="rId17" Type="http://schemas.openxmlformats.org/officeDocument/2006/relationships/image" Target="../media/image67.wmf"/><Relationship Id="rId16" Type="http://schemas.openxmlformats.org/officeDocument/2006/relationships/oleObject" Target="../embeddings/oleObject85.bin"/><Relationship Id="rId15" Type="http://schemas.openxmlformats.org/officeDocument/2006/relationships/image" Target="../media/image66.wmf"/><Relationship Id="rId14" Type="http://schemas.openxmlformats.org/officeDocument/2006/relationships/oleObject" Target="../embeddings/oleObject84.bin"/><Relationship Id="rId13" Type="http://schemas.openxmlformats.org/officeDocument/2006/relationships/image" Target="../media/image65.wmf"/><Relationship Id="rId12" Type="http://schemas.openxmlformats.org/officeDocument/2006/relationships/oleObject" Target="../embeddings/oleObject83.bin"/><Relationship Id="rId11" Type="http://schemas.openxmlformats.org/officeDocument/2006/relationships/image" Target="../media/image64.wmf"/><Relationship Id="rId10" Type="http://schemas.openxmlformats.org/officeDocument/2006/relationships/oleObject" Target="../embeddings/oleObject82.bin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5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71.w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2.xml"/><Relationship Id="rId15" Type="http://schemas.openxmlformats.org/officeDocument/2006/relationships/oleObject" Target="../embeddings/oleObject98.bin"/><Relationship Id="rId14" Type="http://schemas.openxmlformats.org/officeDocument/2006/relationships/image" Target="../media/image77.wmf"/><Relationship Id="rId13" Type="http://schemas.openxmlformats.org/officeDocument/2006/relationships/oleObject" Target="../embeddings/oleObject97.bin"/><Relationship Id="rId12" Type="http://schemas.openxmlformats.org/officeDocument/2006/relationships/image" Target="../media/image76.wmf"/><Relationship Id="rId11" Type="http://schemas.openxmlformats.org/officeDocument/2006/relationships/oleObject" Target="../embeddings/oleObject96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9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3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02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78.wmf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3.xml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105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104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9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86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85.wmf"/><Relationship Id="rId19" Type="http://schemas.openxmlformats.org/officeDocument/2006/relationships/vmlDrawing" Target="../drawings/vmlDrawing12.v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4.xml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10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15.bin"/><Relationship Id="rId27" Type="http://schemas.openxmlformats.org/officeDocument/2006/relationships/vmlDrawing" Target="../drawings/vmlDrawing13.vml"/><Relationship Id="rId26" Type="http://schemas.openxmlformats.org/officeDocument/2006/relationships/slideLayout" Target="../slideLayouts/slideLayout32.xml"/><Relationship Id="rId25" Type="http://schemas.openxmlformats.org/officeDocument/2006/relationships/tags" Target="../tags/tag35.xml"/><Relationship Id="rId24" Type="http://schemas.openxmlformats.org/officeDocument/2006/relationships/image" Target="../media/image104.wmf"/><Relationship Id="rId23" Type="http://schemas.openxmlformats.org/officeDocument/2006/relationships/oleObject" Target="../embeddings/oleObject125.bin"/><Relationship Id="rId22" Type="http://schemas.openxmlformats.org/officeDocument/2006/relationships/image" Target="../media/image103.wmf"/><Relationship Id="rId21" Type="http://schemas.openxmlformats.org/officeDocument/2006/relationships/oleObject" Target="../embeddings/oleObject124.bin"/><Relationship Id="rId20" Type="http://schemas.openxmlformats.org/officeDocument/2006/relationships/image" Target="../media/image102.wmf"/><Relationship Id="rId2" Type="http://schemas.openxmlformats.org/officeDocument/2006/relationships/image" Target="../media/image93.wmf"/><Relationship Id="rId19" Type="http://schemas.openxmlformats.org/officeDocument/2006/relationships/oleObject" Target="../embeddings/oleObject123.bin"/><Relationship Id="rId18" Type="http://schemas.openxmlformats.org/officeDocument/2006/relationships/image" Target="../media/image101.w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00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14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42.xml"/><Relationship Id="rId5" Type="http://schemas.openxmlformats.org/officeDocument/2006/relationships/tags" Target="../tags/tag38.xml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2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39.xml"/><Relationship Id="rId1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Box 4"/>
          <p:cNvSpPr txBox="1"/>
          <p:nvPr/>
        </p:nvSpPr>
        <p:spPr>
          <a:xfrm>
            <a:off x="1162050" y="1509713"/>
            <a:ext cx="10166350" cy="22453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6000" b="1">
                <a:latin typeface="Times New Roman" panose="02020603050405020304" pitchFamily="18" charset="0"/>
                <a:ea typeface="黑体" panose="02010609060101010101" charset="-122"/>
              </a:rPr>
              <a:t>第一章   集合与常用逻辑用语</a:t>
            </a:r>
            <a:endParaRPr lang="zh-CN" altLang="en-US" sz="6000" b="1">
              <a:latin typeface="Times New Roman" panose="02020603050405020304" pitchFamily="18" charset="0"/>
              <a:ea typeface="黑体" panose="02010609060101010101" charset="-122"/>
            </a:endParaRPr>
          </a:p>
          <a:p>
            <a:pPr algn="ctr"/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</a:endParaRPr>
          </a:p>
          <a:p>
            <a:pPr algn="ctr"/>
            <a:r>
              <a:rPr lang="en-US" altLang="zh-CN" sz="4800" b="1">
                <a:latin typeface="Times New Roman" panose="02020603050405020304" pitchFamily="18" charset="0"/>
                <a:ea typeface="黑体" panose="02010609060101010101" charset="-122"/>
              </a:rPr>
              <a:t>1.4.2  </a:t>
            </a:r>
            <a:r>
              <a:rPr lang="zh-CN" altLang="en-US" sz="4800" b="1">
                <a:latin typeface="Times New Roman" panose="02020603050405020304" pitchFamily="18" charset="0"/>
                <a:ea typeface="黑体" panose="02010609060101010101" charset="-122"/>
              </a:rPr>
              <a:t>充要条件</a:t>
            </a:r>
            <a:endParaRPr lang="en-US" altLang="zh-CN" sz="4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127" name="文本框 99"/>
          <p:cNvSpPr txBox="1"/>
          <p:nvPr>
            <p:custDataLst>
              <p:tags r:id="rId1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-24765" y="0"/>
            <a:ext cx="7011665" cy="839470"/>
          </a:xfrm>
          <a:solidFill>
            <a:schemeClr val="accent1"/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3.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四种条件关系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4963" y="1052513"/>
          <a:ext cx="11546840" cy="3604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12875"/>
                <a:gridCol w="1419225"/>
                <a:gridCol w="1929130"/>
                <a:gridCol w="1782445"/>
                <a:gridCol w="5003165"/>
              </a:tblGrid>
              <a:tr h="57658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条件</a:t>
                      </a: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CN" sz="28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结论</a:t>
                      </a: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altLang="zh-CN" sz="28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能否推</a:t>
                      </a: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altLang="zh-CN" sz="28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7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i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altLang="en-US" sz="2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能否推</a:t>
                      </a:r>
                      <a:r>
                        <a:rPr lang="en-US" altLang="zh-CN" sz="2800" i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CN" sz="2800" i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altLang="zh-CN" sz="28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的关系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1183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3600" b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b="1" i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____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_____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__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_____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条件</a:t>
                      </a: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056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&gt;2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3600" b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&gt;4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b="1" i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是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________________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条件</a:t>
                      </a: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=0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b="1" i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是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________________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条件</a:t>
                      </a: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9471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CN" sz="3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3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|&gt;|</a:t>
                      </a:r>
                      <a:r>
                        <a:rPr lang="en-US" altLang="zh-CN" sz="3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3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US" altLang="zh-CN" sz="3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36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&gt;</a:t>
                      </a:r>
                      <a:r>
                        <a:rPr lang="en-US" altLang="zh-CN" sz="36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endParaRPr lang="en-US" altLang="zh-CN" sz="3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lang="en-US" altLang="zh-CN" sz="2800" b="1" i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是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lang="en-US" altLang="zh-CN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_________________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条件</a:t>
                      </a:r>
                      <a:endParaRPr lang="zh-CN" altLang="en-US" sz="2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81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36950" y="1717675"/>
          <a:ext cx="12620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2" imgW="444500" imgH="177165" progId="Equation.KSEE3">
                  <p:embed/>
                </p:oleObj>
              </mc:Choice>
              <mc:Fallback>
                <p:oleObj name="" r:id="rId2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36950" y="1717675"/>
                        <a:ext cx="1262063" cy="503238"/>
                      </a:xfrm>
                      <a:prstGeom prst="rect">
                        <a:avLst/>
                      </a:prstGeom>
                      <a:solidFill>
                        <a:srgbClr val="D4E9F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0513" y="1717675"/>
          <a:ext cx="12620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4" imgW="444500" imgH="177165" progId="Equation.KSEE3">
                  <p:embed/>
                </p:oleObj>
              </mc:Choice>
              <mc:Fallback>
                <p:oleObj name="" r:id="rId4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70513" y="1717675"/>
                        <a:ext cx="1262062" cy="503238"/>
                      </a:xfrm>
                      <a:prstGeom prst="rect">
                        <a:avLst/>
                      </a:prstGeom>
                      <a:solidFill>
                        <a:srgbClr val="D4E9F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1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36950" y="2419350"/>
          <a:ext cx="1262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6" imgW="444500" imgH="177165" progId="Equation.KSEE3">
                  <p:embed/>
                </p:oleObj>
              </mc:Choice>
              <mc:Fallback>
                <p:oleObj name="" r:id="rId6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36950" y="2419350"/>
                        <a:ext cx="126206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5443538" y="2400300"/>
            <a:ext cx="1262062" cy="544513"/>
            <a:chOff x="8606" y="8733"/>
            <a:chExt cx="1987" cy="857"/>
          </a:xfrm>
        </p:grpSpPr>
        <p:graphicFrame>
          <p:nvGraphicFramePr>
            <p:cNvPr id="75821" name="对象 1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606" y="8796"/>
            <a:ext cx="198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" r:id="rId7" imgW="444500" imgH="177165" progId="Equation.KSEE3">
                    <p:embed/>
                  </p:oleObj>
                </mc:Choice>
                <mc:Fallback>
                  <p:oleObj name="" r:id="rId7" imgW="4445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606" y="8796"/>
                          <a:ext cx="1987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22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249" y="8733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" r:id="rId8" imgW="101600" imgH="177165" progId="Equation.KSEE3">
                    <p:embed/>
                  </p:oleObj>
                </mc:Choice>
                <mc:Fallback>
                  <p:oleObj name="" r:id="rId8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249" y="8733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文本框 48"/>
          <p:cNvSpPr txBox="1"/>
          <p:nvPr/>
        </p:nvSpPr>
        <p:spPr>
          <a:xfrm>
            <a:off x="8401050" y="1700213"/>
            <a:ext cx="2563813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充分必要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充要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7738" y="2424113"/>
            <a:ext cx="1970087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充分不必要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75825" name="组合 51"/>
          <p:cNvGrpSpPr/>
          <p:nvPr/>
        </p:nvGrpSpPr>
        <p:grpSpPr>
          <a:xfrm>
            <a:off x="3536950" y="3124200"/>
            <a:ext cx="1262063" cy="544513"/>
            <a:chOff x="8606" y="8733"/>
            <a:chExt cx="1987" cy="857"/>
          </a:xfrm>
        </p:grpSpPr>
        <p:graphicFrame>
          <p:nvGraphicFramePr>
            <p:cNvPr id="75826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606" y="8796"/>
            <a:ext cx="198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" r:id="rId10" imgW="444500" imgH="177165" progId="Equation.KSEE3">
                    <p:embed/>
                  </p:oleObj>
                </mc:Choice>
                <mc:Fallback>
                  <p:oleObj name="" r:id="rId10" imgW="4445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606" y="8796"/>
                          <a:ext cx="1987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27" name="对象 5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348" y="8733"/>
            <a:ext cx="454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" r:id="rId12" imgW="101600" imgH="177165" progId="Equation.KSEE3">
                    <p:embed/>
                  </p:oleObj>
                </mc:Choice>
                <mc:Fallback>
                  <p:oleObj name="" r:id="rId12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348" y="8733"/>
                          <a:ext cx="454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" name="对象 5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70513" y="3167063"/>
          <a:ext cx="1262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" r:id="rId13" imgW="444500" imgH="177165" progId="Equation.KSEE3">
                  <p:embed/>
                </p:oleObj>
              </mc:Choice>
              <mc:Fallback>
                <p:oleObj name="" r:id="rId13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70513" y="3167063"/>
                        <a:ext cx="126206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8567738" y="3140075"/>
            <a:ext cx="215582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必要不充分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536950" y="3944938"/>
            <a:ext cx="1262063" cy="544512"/>
            <a:chOff x="8606" y="8733"/>
            <a:chExt cx="1987" cy="857"/>
          </a:xfrm>
        </p:grpSpPr>
        <p:graphicFrame>
          <p:nvGraphicFramePr>
            <p:cNvPr id="75831" name="对象 6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606" y="8796"/>
            <a:ext cx="198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" r:id="rId14" imgW="444500" imgH="177165" progId="Equation.KSEE3">
                    <p:embed/>
                  </p:oleObj>
                </mc:Choice>
                <mc:Fallback>
                  <p:oleObj name="" r:id="rId14" imgW="4445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606" y="8796"/>
                          <a:ext cx="1987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32" name="对象 6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348" y="8733"/>
            <a:ext cx="454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" r:id="rId15" imgW="101600" imgH="177165" progId="Equation.KSEE3">
                    <p:embed/>
                  </p:oleObj>
                </mc:Choice>
                <mc:Fallback>
                  <p:oleObj name="" r:id="rId15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348" y="8733"/>
                          <a:ext cx="454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/>
          <p:cNvGrpSpPr/>
          <p:nvPr/>
        </p:nvGrpSpPr>
        <p:grpSpPr>
          <a:xfrm>
            <a:off x="5370513" y="3944938"/>
            <a:ext cx="1262062" cy="544512"/>
            <a:chOff x="8606" y="8733"/>
            <a:chExt cx="1987" cy="857"/>
          </a:xfrm>
        </p:grpSpPr>
        <p:graphicFrame>
          <p:nvGraphicFramePr>
            <p:cNvPr id="75834" name="对象 6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606" y="8796"/>
            <a:ext cx="1987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" r:id="rId17" imgW="444500" imgH="177165" progId="Equation.KSEE3">
                    <p:embed/>
                  </p:oleObj>
                </mc:Choice>
                <mc:Fallback>
                  <p:oleObj name="" r:id="rId17" imgW="4445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606" y="8796"/>
                          <a:ext cx="1987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35" name="对象 7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249" y="8733"/>
            <a:ext cx="454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" r:id="rId18" imgW="101600" imgH="177165" progId="Equation.KSEE3">
                    <p:embed/>
                  </p:oleObj>
                </mc:Choice>
                <mc:Fallback>
                  <p:oleObj name="" r:id="rId18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249" y="8733"/>
                          <a:ext cx="454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文本框 75"/>
          <p:cNvSpPr txBox="1"/>
          <p:nvPr/>
        </p:nvSpPr>
        <p:spPr>
          <a:xfrm>
            <a:off x="8023225" y="3933825"/>
            <a:ext cx="310197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既不充分也不必要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4645" y="4784725"/>
            <a:ext cx="118579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defTabSz="685800"/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①若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,且</a:t>
            </a:r>
            <a:r>
              <a:rPr lang="en-US" altLang="zh-CN" sz="3000" b="1" i="1">
                <a:solidFill>
                  <a:srgbClr val="FF33CC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en-US" altLang="zh-CN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,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则称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的充要条件</a:t>
            </a:r>
            <a:r>
              <a:rPr lang="en-US" altLang="zh-CN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或</a:t>
            </a:r>
            <a:r>
              <a:rPr lang="en-US" altLang="zh-CN" sz="3000" b="1" i="1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charset="-122"/>
              </a:rPr>
              <a:t>q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3000" b="1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charset="-122"/>
              </a:rPr>
              <a:t>p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的充要条件</a:t>
            </a:r>
            <a:r>
              <a:rPr lang="en-US" altLang="zh-CN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),</a:t>
            </a:r>
            <a:r>
              <a:rPr lang="zh-CN" altLang="en-US" sz="30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记作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⇔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en-US" altLang="zh-CN" sz="3000" b="1"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charset="-122"/>
              </a:rPr>
              <a:t>.</a:t>
            </a:r>
            <a:endParaRPr lang="zh-CN" altLang="en-US" sz="3000" b="1">
              <a:solidFill>
                <a:srgbClr val="0D0D0D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7670" y="5372735"/>
          <a:ext cx="485500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19" imgW="1955800" imgH="203200" progId="Equation.KSEE3">
                  <p:embed/>
                </p:oleObj>
              </mc:Choice>
              <mc:Fallback>
                <p:oleObj name="" r:id="rId19" imgW="1955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7670" y="5372735"/>
                        <a:ext cx="4855002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407453" y="5911850"/>
            <a:ext cx="10604421" cy="539814"/>
            <a:chOff x="7661" y="2619"/>
            <a:chExt cx="16694" cy="852"/>
          </a:xfrm>
          <a:noFill/>
        </p:grpSpPr>
        <p:graphicFrame>
          <p:nvGraphicFramePr>
            <p:cNvPr id="81967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661" y="2619"/>
            <a:ext cx="16694" cy="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" name="" r:id="rId21" imgW="4241800" imgH="215900" progId="Equation.KSEE3">
                    <p:embed/>
                  </p:oleObj>
                </mc:Choice>
                <mc:Fallback>
                  <p:oleObj name="" r:id="rId21" imgW="4241800" imgH="2159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661" y="2619"/>
                          <a:ext cx="16694" cy="8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8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896" y="2652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" name="" r:id="rId23" imgW="101600" imgH="177165" progId="Equation.KSEE3">
                    <p:embed/>
                  </p:oleObj>
                </mc:Choice>
                <mc:Fallback>
                  <p:oleObj name="" r:id="rId23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896" y="2652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7968615" y="5805170"/>
            <a:ext cx="1970088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必要不充分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24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61" grpId="0"/>
      <p:bldP spid="76" grpId="0"/>
      <p:bldP spid="10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95795" cy="864000"/>
          </a:xfr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新知巩固：四种条件关系</a:t>
            </a:r>
            <a:r>
              <a:rPr lang="en-US" altLang="zh-CN" sz="40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P22</a:t>
            </a:r>
            <a:endParaRPr lang="en-US" altLang="zh-CN" sz="4000" b="1" strike="noStrike" noProof="1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charset="-122"/>
            </a:endParaRPr>
          </a:p>
        </p:txBody>
      </p:sp>
      <p:pic>
        <p:nvPicPr>
          <p:cNvPr id="8397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0" y="981075"/>
            <a:ext cx="10488613" cy="2808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文本框 20"/>
          <p:cNvSpPr txBox="1"/>
          <p:nvPr/>
        </p:nvSpPr>
        <p:spPr>
          <a:xfrm>
            <a:off x="554038" y="3905250"/>
            <a:ext cx="309880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(1)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的充要条件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7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72038" y="3933825"/>
          <a:ext cx="23383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2" imgW="889000" imgH="177165" progId="Equation.KSEE3">
                  <p:embed/>
                </p:oleObj>
              </mc:Choice>
              <mc:Fallback>
                <p:oleObj name="" r:id="rId2" imgW="8890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72038" y="3933825"/>
                        <a:ext cx="2338387" cy="466725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85838" y="5086350"/>
            <a:ext cx="7331075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两条弦相等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⇒</a:t>
            </a:r>
            <a:r>
              <a:rPr lang="zh-CN" altLang="en-US" sz="2800" b="1">
                <a:solidFill>
                  <a:srgbClr val="0D0D0D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两条弦所对的圆周角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相等</a:t>
            </a:r>
            <a:r>
              <a:rPr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或互补</a:t>
            </a:r>
            <a:endParaRPr lang="zh-CN" altLang="en-US" sz="2800" b="1" u="sng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875213" y="4492625"/>
            <a:ext cx="2339975" cy="501650"/>
            <a:chOff x="10394" y="2735"/>
            <a:chExt cx="3684" cy="792"/>
          </a:xfrm>
        </p:grpSpPr>
        <p:graphicFrame>
          <p:nvGraphicFramePr>
            <p:cNvPr id="83975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394" y="2791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" name="" r:id="rId4" imgW="889000" imgH="177165" progId="Equation.KSEE3">
                    <p:embed/>
                  </p:oleObj>
                </mc:Choice>
                <mc:Fallback>
                  <p:oleObj name="" r:id="rId4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394" y="2791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6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75" y="2735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" name="" r:id="rId5" imgW="101600" imgH="177165" progId="Equation.KSEE3">
                    <p:embed/>
                  </p:oleObj>
                </mc:Choice>
                <mc:Fallback>
                  <p:oleObj name="" r:id="rId5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75" y="2735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文本框 32"/>
          <p:cNvSpPr txBox="1"/>
          <p:nvPr/>
        </p:nvSpPr>
        <p:spPr>
          <a:xfrm>
            <a:off x="554038" y="4503738"/>
            <a:ext cx="4170362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(2)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的必要不充分条件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4946650" y="5662613"/>
            <a:ext cx="2339975" cy="503237"/>
            <a:chOff x="10394" y="2735"/>
            <a:chExt cx="3684" cy="792"/>
          </a:xfrm>
        </p:grpSpPr>
        <p:graphicFrame>
          <p:nvGraphicFramePr>
            <p:cNvPr id="83979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394" y="2791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" r:id="rId7" imgW="889000" imgH="177165" progId="Equation.KSEE3">
                    <p:embed/>
                  </p:oleObj>
                </mc:Choice>
                <mc:Fallback>
                  <p:oleObj name="" r:id="rId7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394" y="2791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80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75" y="2735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" r:id="rId8" imgW="101600" imgH="177165" progId="Equation.KSEE3">
                    <p:embed/>
                  </p:oleObj>
                </mc:Choice>
                <mc:Fallback>
                  <p:oleObj name="" r:id="rId8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075" y="2735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文本框 55"/>
          <p:cNvSpPr txBox="1"/>
          <p:nvPr/>
        </p:nvSpPr>
        <p:spPr>
          <a:xfrm>
            <a:off x="482600" y="5626100"/>
            <a:ext cx="417036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(3)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的必要不充分条件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32850" y="3860800"/>
            <a:ext cx="30432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①三边对应成比例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32850" y="4454525"/>
            <a:ext cx="3209925" cy="952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②两边对应成比例且夹角相等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32850" y="5407025"/>
            <a:ext cx="3209925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③两角相等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64425" y="2781300"/>
            <a:ext cx="555942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SSS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SAS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AAS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ASA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HL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33" grpId="0"/>
      <p:bldP spid="56" grpId="0"/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7" name="图片 1"/>
          <p:cNvPicPr>
            <a:picLocks noChangeAspect="1"/>
          </p:cNvPicPr>
          <p:nvPr/>
        </p:nvPicPr>
        <p:blipFill>
          <a:blip r:embed="rId1">
            <a:lum bright="-6000" contrast="11998"/>
          </a:blip>
          <a:srcRect r="17029"/>
          <a:stretch>
            <a:fillRect/>
          </a:stretch>
        </p:blipFill>
        <p:spPr>
          <a:xfrm>
            <a:off x="192088" y="115888"/>
            <a:ext cx="11641137" cy="3986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6600825" y="800100"/>
            <a:ext cx="2338388" cy="503238"/>
            <a:chOff x="10394" y="2735"/>
            <a:chExt cx="3684" cy="792"/>
          </a:xfrm>
        </p:grpSpPr>
        <p:graphicFrame>
          <p:nvGraphicFramePr>
            <p:cNvPr id="116739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394" y="2791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" r:id="rId2" imgW="889000" imgH="177165" progId="Equation.KSEE3">
                    <p:embed/>
                  </p:oleObj>
                </mc:Choice>
                <mc:Fallback>
                  <p:oleObj name="" r:id="rId2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394" y="2791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40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74" y="2734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" r:id="rId4" imgW="101600" imgH="177165" progId="Equation.KSEE3">
                    <p:embed/>
                  </p:oleObj>
                </mc:Choice>
                <mc:Fallback>
                  <p:oleObj name="" r:id="rId4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074" y="2734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8939213" y="1304925"/>
            <a:ext cx="2324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必要不充分条件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5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769475" y="2338388"/>
          <a:ext cx="23383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6" imgW="889000" imgH="177165" progId="Equation.KSEE3">
                  <p:embed/>
                </p:oleObj>
              </mc:Choice>
              <mc:Fallback>
                <p:oleObj name="" r:id="rId6" imgW="8890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69475" y="2338388"/>
                        <a:ext cx="2338388" cy="468312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201275" y="1844675"/>
            <a:ext cx="14065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充要条件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232400" y="2384425"/>
            <a:ext cx="2339975" cy="503238"/>
            <a:chOff x="8240" y="5230"/>
            <a:chExt cx="3684" cy="792"/>
          </a:xfrm>
        </p:grpSpPr>
        <p:graphicFrame>
          <p:nvGraphicFramePr>
            <p:cNvPr id="116745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240" y="5286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" r:id="rId7" imgW="889000" imgH="177165" progId="Equation.KSEE3">
                    <p:embed/>
                  </p:oleObj>
                </mc:Choice>
                <mc:Fallback>
                  <p:oleObj name="" r:id="rId7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240" y="5286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46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620" y="5229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" name="" r:id="rId8" imgW="101600" imgH="177165" progId="Equation.KSEE3">
                    <p:embed/>
                  </p:oleObj>
                </mc:Choice>
                <mc:Fallback>
                  <p:oleObj name="" r:id="rId8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620" y="5229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5"/>
          <p:cNvSpPr txBox="1"/>
          <p:nvPr/>
        </p:nvSpPr>
        <p:spPr>
          <a:xfrm>
            <a:off x="7572375" y="2428875"/>
            <a:ext cx="2324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充分不必要条件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232400" y="2924175"/>
            <a:ext cx="2338388" cy="503238"/>
            <a:chOff x="10394" y="2735"/>
            <a:chExt cx="3684" cy="792"/>
          </a:xfrm>
        </p:grpSpPr>
        <p:graphicFrame>
          <p:nvGraphicFramePr>
            <p:cNvPr id="116749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394" y="2791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" name="" r:id="rId9" imgW="889000" imgH="177165" progId="Equation.KSEE3">
                    <p:embed/>
                  </p:oleObj>
                </mc:Choice>
                <mc:Fallback>
                  <p:oleObj name="" r:id="rId9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394" y="2791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50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75" y="2735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" name="" r:id="rId10" imgW="101600" imgH="177165" progId="Equation.KSEE3">
                    <p:embed/>
                  </p:oleObj>
                </mc:Choice>
                <mc:Fallback>
                  <p:oleObj name="" r:id="rId10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075" y="2735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31"/>
          <p:cNvSpPr txBox="1"/>
          <p:nvPr/>
        </p:nvSpPr>
        <p:spPr>
          <a:xfrm>
            <a:off x="7680325" y="2963863"/>
            <a:ext cx="23241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必要不充分条件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800600" y="3459163"/>
            <a:ext cx="2338388" cy="508000"/>
            <a:chOff x="7559" y="6922"/>
            <a:chExt cx="3684" cy="800"/>
          </a:xfrm>
        </p:grpSpPr>
        <p:grpSp>
          <p:nvGrpSpPr>
            <p:cNvPr id="116753" name="组合 34"/>
            <p:cNvGrpSpPr/>
            <p:nvPr/>
          </p:nvGrpSpPr>
          <p:grpSpPr>
            <a:xfrm>
              <a:off x="7559" y="6930"/>
              <a:ext cx="3684" cy="792"/>
              <a:chOff x="10394" y="2735"/>
              <a:chExt cx="3684" cy="792"/>
            </a:xfrm>
          </p:grpSpPr>
          <p:graphicFrame>
            <p:nvGraphicFramePr>
              <p:cNvPr id="116754" name="对象 5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394" y="2791"/>
              <a:ext cx="3684" cy="7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5" name="" r:id="rId11" imgW="889000" imgH="177165" progId="Equation.KSEE3">
                      <p:embed/>
                    </p:oleObj>
                  </mc:Choice>
                  <mc:Fallback>
                    <p:oleObj name="" r:id="rId11" imgW="889000" imgH="177165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0394" y="2791"/>
                            <a:ext cx="3684" cy="737"/>
                          </a:xfrm>
                          <a:prstGeom prst="rect">
                            <a:avLst/>
                          </a:prstGeom>
                          <a:solidFill>
                            <a:srgbClr val="FEEED2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5" name="对象 1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1075" y="2735"/>
              <a:ext cx="454" cy="7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6" name="" r:id="rId12" imgW="101600" imgH="177165" progId="Equation.KSEE3">
                      <p:embed/>
                    </p:oleObj>
                  </mc:Choice>
                  <mc:Fallback>
                    <p:oleObj name="" r:id="rId12" imgW="101600" imgH="177165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1075" y="2735"/>
                            <a:ext cx="454" cy="7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6756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940" y="6922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" name="" r:id="rId13" imgW="101600" imgH="177165" progId="Equation.KSEE3">
                    <p:embed/>
                  </p:oleObj>
                </mc:Choice>
                <mc:Fallback>
                  <p:oleObj name="" r:id="rId13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940" y="6922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文本框 41"/>
          <p:cNvSpPr txBox="1"/>
          <p:nvPr/>
        </p:nvSpPr>
        <p:spPr>
          <a:xfrm>
            <a:off x="7391400" y="3500438"/>
            <a:ext cx="32432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既不充分也不必要条件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pic>
        <p:nvPicPr>
          <p:cNvPr id="116758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063" y="4040188"/>
            <a:ext cx="9863137" cy="2582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625013" y="4524375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25013" y="5097463"/>
            <a:ext cx="53975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1913" y="5548313"/>
            <a:ext cx="541337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88388" y="6070600"/>
            <a:ext cx="541337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175500" y="5237163"/>
            <a:ext cx="1441450" cy="1412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04063" y="5489575"/>
            <a:ext cx="171291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必要不充分</a:t>
            </a:r>
            <a:endParaRPr lang="zh-CN" altLang="en-US" sz="24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117975" y="5710238"/>
            <a:ext cx="1474788" cy="1666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457700" y="5876925"/>
            <a:ext cx="79533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充要</a:t>
            </a:r>
            <a:endParaRPr lang="zh-CN" altLang="en-US" sz="24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5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26" grpId="0"/>
      <p:bldP spid="32" grpId="0"/>
      <p:bldP spid="42" grpId="0"/>
      <p:bldP spid="6" grpId="0"/>
      <p:bldP spid="7" grpId="0"/>
      <p:bldP spid="10" grpId="0"/>
      <p:bldP spid="2" grpId="0"/>
      <p:bldP spid="8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0" y="0"/>
            <a:ext cx="6995795" cy="864000"/>
          </a:xfr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新知演练：四种条件关系</a:t>
            </a:r>
            <a:r>
              <a:rPr lang="en-US" altLang="zh-CN" sz="4000" b="1" strike="noStrike" noProof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charset="-122"/>
              </a:rPr>
              <a:t>P21</a:t>
            </a:r>
            <a:endParaRPr lang="en-US" altLang="zh-CN" sz="4000" b="1" strike="noStrike" noProof="1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charset="-122"/>
            </a:endParaRPr>
          </a:p>
        </p:txBody>
      </p:sp>
      <p:pic>
        <p:nvPicPr>
          <p:cNvPr id="86018" name="图片 5"/>
          <p:cNvPicPr>
            <a:picLocks noChangeAspect="1"/>
          </p:cNvPicPr>
          <p:nvPr/>
        </p:nvPicPr>
        <p:blipFill>
          <a:blip r:embed="rId1">
            <a:lum bright="-6000" contrast="11998"/>
          </a:blip>
          <a:stretch>
            <a:fillRect/>
          </a:stretch>
        </p:blipFill>
        <p:spPr>
          <a:xfrm>
            <a:off x="334963" y="981075"/>
            <a:ext cx="11690350" cy="2489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6019" name="组合 6"/>
          <p:cNvGrpSpPr/>
          <p:nvPr/>
        </p:nvGrpSpPr>
        <p:grpSpPr>
          <a:xfrm>
            <a:off x="5159375" y="3633788"/>
            <a:ext cx="2339975" cy="503237"/>
            <a:chOff x="8240" y="5230"/>
            <a:chExt cx="3684" cy="792"/>
          </a:xfrm>
        </p:grpSpPr>
        <p:graphicFrame>
          <p:nvGraphicFramePr>
            <p:cNvPr id="86020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240" y="5286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8" name="" r:id="rId2" imgW="889000" imgH="177165" progId="Equation.KSEE3">
                    <p:embed/>
                  </p:oleObj>
                </mc:Choice>
                <mc:Fallback>
                  <p:oleObj name="" r:id="rId2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240" y="5286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021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621" y="5230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" name="" r:id="rId4" imgW="101600" imgH="177165" progId="Equation.KSEE3">
                    <p:embed/>
                  </p:oleObj>
                </mc:Choice>
                <mc:Fallback>
                  <p:oleObj name="" r:id="rId4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621" y="5230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022" name="文本框 16"/>
          <p:cNvSpPr txBox="1"/>
          <p:nvPr/>
        </p:nvSpPr>
        <p:spPr>
          <a:xfrm>
            <a:off x="911225" y="3644900"/>
            <a:ext cx="417036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(1)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的充分不必要条件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656138" y="1989138"/>
            <a:ext cx="46339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02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93213" y="1520825"/>
          <a:ext cx="25908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" r:id="rId6" imgW="1130300" imgH="203200" progId="Equation.KSEE3">
                  <p:embed/>
                </p:oleObj>
              </mc:Choice>
              <mc:Fallback>
                <p:oleObj name="" r:id="rId6" imgW="11303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93213" y="1520825"/>
                        <a:ext cx="2590800" cy="468313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5" name="文本框 20"/>
          <p:cNvSpPr txBox="1"/>
          <p:nvPr/>
        </p:nvSpPr>
        <p:spPr>
          <a:xfrm>
            <a:off x="911225" y="4167188"/>
            <a:ext cx="31369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(2)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的充要条件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86026" name="组合 21"/>
          <p:cNvGrpSpPr/>
          <p:nvPr/>
        </p:nvGrpSpPr>
        <p:grpSpPr>
          <a:xfrm>
            <a:off x="5159375" y="4679950"/>
            <a:ext cx="2339975" cy="503238"/>
            <a:chOff x="10394" y="2735"/>
            <a:chExt cx="3684" cy="792"/>
          </a:xfrm>
        </p:grpSpPr>
        <p:graphicFrame>
          <p:nvGraphicFramePr>
            <p:cNvPr id="86027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394" y="2791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" name="" r:id="rId8" imgW="889000" imgH="177165" progId="Equation.KSEE3">
                    <p:embed/>
                  </p:oleObj>
                </mc:Choice>
                <mc:Fallback>
                  <p:oleObj name="" r:id="rId8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394" y="2791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028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075" y="2735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" name="" r:id="rId9" imgW="101600" imgH="177165" progId="Equation.KSEE3">
                    <p:embed/>
                  </p:oleObj>
                </mc:Choice>
                <mc:Fallback>
                  <p:oleObj name="" r:id="rId9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1075" y="2735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029" name="文本框 45"/>
          <p:cNvSpPr txBox="1"/>
          <p:nvPr/>
        </p:nvSpPr>
        <p:spPr>
          <a:xfrm>
            <a:off x="917575" y="4689475"/>
            <a:ext cx="4170363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(3)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的必要不充分条件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86030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59375" y="4197350"/>
          <a:ext cx="23399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" r:id="rId10" imgW="889000" imgH="177165" progId="Equation.KSEE3">
                  <p:embed/>
                </p:oleObj>
              </mc:Choice>
              <mc:Fallback>
                <p:oleObj name="" r:id="rId10" imgW="8890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9375" y="4197350"/>
                        <a:ext cx="2339975" cy="468313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1" name="文本框 48"/>
          <p:cNvSpPr txBox="1"/>
          <p:nvPr/>
        </p:nvSpPr>
        <p:spPr>
          <a:xfrm>
            <a:off x="911225" y="5229225"/>
            <a:ext cx="309880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(4)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的充要条件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86032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59375" y="5259388"/>
          <a:ext cx="23399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" r:id="rId11" imgW="889000" imgH="177165" progId="Equation.KSEE3">
                  <p:embed/>
                </p:oleObj>
              </mc:Choice>
              <mc:Fallback>
                <p:oleObj name="" r:id="rId11" imgW="8890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9375" y="5259388"/>
                        <a:ext cx="2339975" cy="468312"/>
                      </a:xfrm>
                      <a:prstGeom prst="rect">
                        <a:avLst/>
                      </a:prstGeom>
                      <a:solidFill>
                        <a:srgbClr val="FEEED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Grp="1"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8438" y="5516563"/>
            <a:ext cx="914400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Grp="1"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9525" y="5516563"/>
            <a:ext cx="914400" cy="9144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4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-24765" y="0"/>
            <a:ext cx="7457440" cy="839470"/>
          </a:xfrm>
          <a:solidFill>
            <a:schemeClr val="accent1"/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4.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充要条件的证明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88067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8350" y="981075"/>
          <a:ext cx="107616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" r:id="rId2" imgW="4305300" imgH="457200" progId="Equation.KSEE3">
                  <p:embed/>
                </p:oleObj>
              </mc:Choice>
              <mc:Fallback>
                <p:oleObj name="" r:id="rId2" imgW="43053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8350" y="981075"/>
                        <a:ext cx="10761663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358900" y="2100263"/>
            <a:ext cx="3175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774825" y="1555750"/>
            <a:ext cx="79311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27125" y="2263775"/>
          <a:ext cx="91122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" r:id="rId4" imgW="3644900" imgH="457200" progId="Equation.KSEE3">
                  <p:embed/>
                </p:oleObj>
              </mc:Choice>
              <mc:Fallback>
                <p:oleObj name="" r:id="rId4" imgW="36449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27125" y="2263775"/>
                        <a:ext cx="911225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533900" y="1700213"/>
            <a:ext cx="3857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p</a:t>
            </a:r>
            <a:endParaRPr lang="en-US" altLang="zh-CN" sz="3200" b="1" i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69475" y="1412875"/>
            <a:ext cx="385763" cy="5826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q</a:t>
            </a:r>
            <a:endParaRPr lang="en-US" altLang="zh-CN" sz="3200" b="1" i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27125" y="3406775"/>
          <a:ext cx="3048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" r:id="rId6" imgW="1219200" imgH="215900" progId="Equation.KSEE3">
                  <p:embed/>
                </p:oleObj>
              </mc:Choice>
              <mc:Fallback>
                <p:oleObj name="" r:id="rId6" imgW="12192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7125" y="3406775"/>
                        <a:ext cx="304800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24338" y="3419475"/>
          <a:ext cx="5397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" r:id="rId8" imgW="2159000" imgH="203200" progId="Equation.KSEE3">
                  <p:embed/>
                </p:oleObj>
              </mc:Choice>
              <mc:Fallback>
                <p:oleObj name="" r:id="rId8" imgW="21590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24338" y="3419475"/>
                        <a:ext cx="53975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1375" y="4005263"/>
          <a:ext cx="4921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" r:id="rId10" imgW="1968500" imgH="203200" progId="Equation.KSEE3">
                  <p:embed/>
                </p:oleObj>
              </mc:Choice>
              <mc:Fallback>
                <p:oleObj name="" r:id="rId10" imgW="1968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1375" y="4005263"/>
                        <a:ext cx="49212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37225" y="3973513"/>
          <a:ext cx="33004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" r:id="rId12" imgW="1320165" imgH="228600" progId="Equation.KSEE3">
                  <p:embed/>
                </p:oleObj>
              </mc:Choice>
              <mc:Fallback>
                <p:oleObj name="" r:id="rId12" imgW="1320165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37225" y="3973513"/>
                        <a:ext cx="330041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37638" y="4010025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" r:id="rId14" imgW="1244600" imgH="203200" progId="Equation.KSEE3">
                  <p:embed/>
                </p:oleObj>
              </mc:Choice>
              <mc:Fallback>
                <p:oleObj name="" r:id="rId14" imgW="12446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37638" y="4010025"/>
                        <a:ext cx="3111500" cy="50800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1375" y="4546600"/>
          <a:ext cx="7715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" r:id="rId16" imgW="3086100" imgH="215900" progId="Equation.KSEE3">
                  <p:embed/>
                </p:oleObj>
              </mc:Choice>
              <mc:Fallback>
                <p:oleObj name="" r:id="rId16" imgW="30861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41375" y="4546600"/>
                        <a:ext cx="77152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5688" y="5118100"/>
          <a:ext cx="3048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" r:id="rId18" imgW="1219200" imgH="215900" progId="Equation.KSEE3">
                  <p:embed/>
                </p:oleObj>
              </mc:Choice>
              <mc:Fallback>
                <p:oleObj name="" r:id="rId18" imgW="12192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55688" y="5118100"/>
                        <a:ext cx="304800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79875" y="5156200"/>
          <a:ext cx="7747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" r:id="rId20" imgW="3098800" imgH="215900" progId="Equation.KSEE3">
                  <p:embed/>
                </p:oleObj>
              </mc:Choice>
              <mc:Fallback>
                <p:oleObj name="" r:id="rId20" imgW="30988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79875" y="5156200"/>
                        <a:ext cx="77470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9788" y="5732463"/>
          <a:ext cx="6032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" r:id="rId22" imgW="2413000" imgH="215900" progId="Equation.KSEE3">
                  <p:embed/>
                </p:oleObj>
              </mc:Choice>
              <mc:Fallback>
                <p:oleObj name="" r:id="rId22" imgW="2413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39788" y="5732463"/>
                        <a:ext cx="60325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1375" y="6264275"/>
          <a:ext cx="98107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" r:id="rId24" imgW="3924300" imgH="215900" progId="Equation.KSEE3">
                  <p:embed/>
                </p:oleObj>
              </mc:Choice>
              <mc:Fallback>
                <p:oleObj name="" r:id="rId24" imgW="3924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41375" y="6264275"/>
                        <a:ext cx="98107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新知演练</a:t>
            </a:r>
            <a:r>
              <a:rPr kumimoji="0" lang="en-US" altLang="zh-CN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.</a:t>
            </a:r>
            <a:r>
              <a:rPr kumimoji="0" lang="zh-CN" altLang="en-US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充要条件的证明</a:t>
            </a:r>
            <a:endParaRPr kumimoji="0" lang="zh-CN" altLang="en-US" sz="4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+mj-ea"/>
              <a:cs typeface="+mj-cs"/>
              <a:sym typeface="黑体" panose="02010609060101010101" charset="-122"/>
            </a:endParaRPr>
          </a:p>
        </p:txBody>
      </p:sp>
      <p:graphicFrame>
        <p:nvGraphicFramePr>
          <p:cNvPr id="90114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1625" y="984250"/>
          <a:ext cx="11809413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" r:id="rId1" imgW="4279900" imgH="457200" progId="Equation.KSEE3">
                  <p:embed/>
                </p:oleObj>
              </mc:Choice>
              <mc:Fallback>
                <p:oleObj name="" r:id="rId1" imgW="42799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1625" y="984250"/>
                        <a:ext cx="11809413" cy="1258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1335088" y="1612900"/>
            <a:ext cx="36750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>
            <a:endCxn id="90114" idx="3"/>
          </p:cNvCxnSpPr>
          <p:nvPr/>
        </p:nvCxnSpPr>
        <p:spPr>
          <a:xfrm>
            <a:off x="7537450" y="1541463"/>
            <a:ext cx="45735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1625" y="2352675"/>
          <a:ext cx="85232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" r:id="rId3" imgW="3187700" imgH="215900" progId="Equation.KSEE3">
                  <p:embed/>
                </p:oleObj>
              </mc:Choice>
              <mc:Fallback>
                <p:oleObj name="" r:id="rId3" imgW="3187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625" y="2352675"/>
                        <a:ext cx="8523288" cy="574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73375" y="2928938"/>
          <a:ext cx="48228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" r:id="rId5" imgW="1803400" imgH="203200" progId="Equation.KSEE3">
                  <p:embed/>
                </p:oleObj>
              </mc:Choice>
              <mc:Fallback>
                <p:oleObj name="" r:id="rId5" imgW="1803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73375" y="2928938"/>
                        <a:ext cx="4822825" cy="5413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54138" y="3470275"/>
          <a:ext cx="64182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" r:id="rId7" imgW="2400300" imgH="228600" progId="Equation.KSEE3">
                  <p:embed/>
                </p:oleObj>
              </mc:Choice>
              <mc:Fallback>
                <p:oleObj name="" r:id="rId7" imgW="24003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4138" y="3470275"/>
                        <a:ext cx="6418262" cy="60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90725" y="4081463"/>
          <a:ext cx="61483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" r:id="rId9" imgW="2298700" imgH="215900" progId="Equation.KSEE3">
                  <p:embed/>
                </p:oleObj>
              </mc:Choice>
              <mc:Fallback>
                <p:oleObj name="" r:id="rId9" imgW="2298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90725" y="4081463"/>
                        <a:ext cx="6148388" cy="576262"/>
                      </a:xfrm>
                      <a:prstGeom prst="rect">
                        <a:avLst/>
                      </a:prstGeom>
                      <a:solidFill>
                        <a:srgbClr val="DEEB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90725" y="4721225"/>
          <a:ext cx="869473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" r:id="rId11" imgW="3251200" imgH="228600" progId="Equation.KSEE3">
                  <p:embed/>
                </p:oleObj>
              </mc:Choice>
              <mc:Fallback>
                <p:oleObj name="" r:id="rId11" imgW="32512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90725" y="4721225"/>
                        <a:ext cx="8694738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90725" y="5332413"/>
          <a:ext cx="570547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" r:id="rId13" imgW="2133600" imgH="228600" progId="Equation.KSEE3">
                  <p:embed/>
                </p:oleObj>
              </mc:Choice>
              <mc:Fallback>
                <p:oleObj name="" r:id="rId13" imgW="21336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90725" y="5332413"/>
                        <a:ext cx="5705475" cy="611187"/>
                      </a:xfrm>
                      <a:prstGeom prst="rect">
                        <a:avLst/>
                      </a:prstGeom>
                      <a:solidFill>
                        <a:srgbClr val="DEEB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55800" y="5943600"/>
          <a:ext cx="62166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" r:id="rId15" imgW="2324100" imgH="203200" progId="Equation.KSEE3">
                  <p:embed/>
                </p:oleObj>
              </mc:Choice>
              <mc:Fallback>
                <p:oleObj name="" r:id="rId15" imgW="2324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55800" y="5943600"/>
                        <a:ext cx="621665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39113" y="5943600"/>
          <a:ext cx="39735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" r:id="rId17" imgW="1485900" imgH="203200" progId="Equation.KSEE3">
                  <p:embed/>
                </p:oleObj>
              </mc:Choice>
              <mc:Fallback>
                <p:oleObj name="" r:id="rId17" imgW="1485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39113" y="5943600"/>
                        <a:ext cx="3973512" cy="541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新知演练</a:t>
            </a:r>
            <a:r>
              <a:rPr kumimoji="0" lang="en-US" altLang="zh-CN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.</a:t>
            </a:r>
            <a:r>
              <a:rPr kumimoji="0" lang="zh-CN" altLang="en-US" sz="4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+mj-ea"/>
                <a:cs typeface="+mj-cs"/>
                <a:sym typeface="黑体" panose="02010609060101010101" charset="-122"/>
              </a:rPr>
              <a:t>充要条件的证明</a:t>
            </a:r>
            <a:endParaRPr kumimoji="0" lang="zh-CN" altLang="en-US" sz="4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+mj-ea"/>
              <a:cs typeface="+mj-cs"/>
              <a:sym typeface="黑体" panose="02010609060101010101" charset="-122"/>
            </a:endParaRPr>
          </a:p>
        </p:txBody>
      </p:sp>
      <p:graphicFrame>
        <p:nvGraphicFramePr>
          <p:cNvPr id="104450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5813" y="887413"/>
          <a:ext cx="103790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" r:id="rId1" imgW="4445000" imgH="419100" progId="Equation.KSEE3">
                  <p:embed/>
                </p:oleObj>
              </mc:Choice>
              <mc:Fallback>
                <p:oleObj name="" r:id="rId1" imgW="44450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5813" y="887413"/>
                        <a:ext cx="10379075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/>
          <p:cNvCxnSpPr/>
          <p:nvPr/>
        </p:nvCxnSpPr>
        <p:spPr>
          <a:xfrm>
            <a:off x="10048875" y="1581150"/>
            <a:ext cx="835025" cy="0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038975" y="1822450"/>
            <a:ext cx="965200" cy="0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1"/>
          <p:cNvSpPr>
            <a:spLocks noGrp="1"/>
          </p:cNvSpPr>
          <p:nvPr/>
        </p:nvSpPr>
        <p:spPr>
          <a:xfrm>
            <a:off x="10158413" y="620713"/>
            <a:ext cx="615950" cy="5746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 algn="ctr">
              <a:lnSpc>
                <a:spcPct val="7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endParaRPr lang="en-US" altLang="zh-CN" sz="3200" b="1" i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3" name="标题 1"/>
          <p:cNvSpPr>
            <a:spLocks noGrp="1"/>
          </p:cNvSpPr>
          <p:nvPr/>
        </p:nvSpPr>
        <p:spPr>
          <a:xfrm>
            <a:off x="7248525" y="476250"/>
            <a:ext cx="615950" cy="5746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lstStyle/>
          <a:p>
            <a:pPr algn="ctr">
              <a:lnSpc>
                <a:spcPct val="7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endParaRPr lang="en-US" altLang="zh-CN" sz="3200" b="1" i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9425" y="2205038"/>
          <a:ext cx="3587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" r:id="rId3" imgW="1536700" imgH="215900" progId="Equation.KSEE3">
                  <p:embed/>
                </p:oleObj>
              </mc:Choice>
              <mc:Fallback>
                <p:oleObj name="" r:id="rId3" imgW="1536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425" y="2205038"/>
                        <a:ext cx="35877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67175" y="1966913"/>
          <a:ext cx="25796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" r:id="rId5" imgW="1104900" imgH="419100" progId="Equation.KSEE3">
                  <p:embed/>
                </p:oleObj>
              </mc:Choice>
              <mc:Fallback>
                <p:oleObj name="" r:id="rId5" imgW="11049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7175" y="1966913"/>
                        <a:ext cx="2579688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62075" y="3929063"/>
          <a:ext cx="5783263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" r:id="rId7" imgW="2476500" imgH="419100" progId="Equation.KSEE3">
                  <p:embed/>
                </p:oleObj>
              </mc:Choice>
              <mc:Fallback>
                <p:oleObj name="" r:id="rId7" imgW="24765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62075" y="3929063"/>
                        <a:ext cx="5783263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40013" y="4908550"/>
          <a:ext cx="41513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" r:id="rId9" imgW="1777365" imgH="203200" progId="Equation.KSEE3">
                  <p:embed/>
                </p:oleObj>
              </mc:Choice>
              <mc:Fallback>
                <p:oleObj name="" r:id="rId9" imgW="17773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40013" y="4908550"/>
                        <a:ext cx="4151312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62075" y="3200400"/>
          <a:ext cx="28749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" r:id="rId11" imgW="1231265" imgH="203200" progId="Equation.KSEE3">
                  <p:embed/>
                </p:oleObj>
              </mc:Choice>
              <mc:Fallback>
                <p:oleObj name="" r:id="rId11" imgW="12312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2075" y="3200400"/>
                        <a:ext cx="2874963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37038" y="2947988"/>
          <a:ext cx="30543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" r:id="rId13" imgW="1308100" imgH="419100" progId="Equation.KSEE3">
                  <p:embed/>
                </p:oleObj>
              </mc:Choice>
              <mc:Fallback>
                <p:oleObj name="" r:id="rId13" imgW="13081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37038" y="2947988"/>
                        <a:ext cx="3054350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43700" y="1989138"/>
          <a:ext cx="46624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" r:id="rId15" imgW="1841500" imgH="203200" progId="Equation.KSEE3">
                  <p:embed/>
                </p:oleObj>
              </mc:Choice>
              <mc:Fallback>
                <p:oleObj name="" r:id="rId15" imgW="1841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43700" y="1989138"/>
                        <a:ext cx="4662488" cy="5032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92988" y="2636838"/>
          <a:ext cx="47148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" r:id="rId17" imgW="2019300" imgH="215900" progId="Equation.KSEE3">
                  <p:embed/>
                </p:oleObj>
              </mc:Choice>
              <mc:Fallback>
                <p:oleObj name="" r:id="rId17" imgW="2019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92988" y="2636838"/>
                        <a:ext cx="471487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01038" y="3141663"/>
          <a:ext cx="169227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" r:id="rId19" imgW="723900" imgH="419100" progId="Equation.KSEE3">
                  <p:embed/>
                </p:oleObj>
              </mc:Choice>
              <mc:Fallback>
                <p:oleObj name="" r:id="rId19" imgW="7239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01038" y="3141663"/>
                        <a:ext cx="1692275" cy="979487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93313" y="3141663"/>
          <a:ext cx="14541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" r:id="rId21" imgW="622300" imgH="419100" progId="Equation.KSEE3">
                  <p:embed/>
                </p:oleObj>
              </mc:Choice>
              <mc:Fallback>
                <p:oleObj name="" r:id="rId21" imgW="622300" imgH="419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993313" y="3141663"/>
                        <a:ext cx="1454150" cy="979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-24765" y="0"/>
            <a:ext cx="7457440" cy="839470"/>
          </a:xfrm>
          <a:solidFill>
            <a:schemeClr val="accent1"/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5.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条件类型与集合的关系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9216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5325" y="1052513"/>
          <a:ext cx="8029575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" r:id="rId2" imgW="3213100" imgH="1422400" progId="Equation.KSEE3">
                  <p:embed/>
                </p:oleObj>
              </mc:Choice>
              <mc:Fallback>
                <p:oleObj name="" r:id="rId2" imgW="3213100" imgH="14224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5325" y="1052513"/>
                        <a:ext cx="8029575" cy="355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735638" y="1630363"/>
            <a:ext cx="10001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724900" y="1052513"/>
            <a:ext cx="1512888" cy="1295400"/>
            <a:chOff x="13855" y="2112"/>
            <a:chExt cx="2382" cy="2040"/>
          </a:xfrm>
        </p:grpSpPr>
        <p:sp>
          <p:nvSpPr>
            <p:cNvPr id="13" name="椭圆 12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14" name="椭圆 13"/>
            <p:cNvSpPr/>
            <p:nvPr/>
          </p:nvSpPr>
          <p:spPr>
            <a:xfrm>
              <a:off x="14136" y="2565"/>
              <a:ext cx="1347" cy="1154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800" b="1" i="1" strike="noStrike" noProof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2800" b="1" i="1" strike="noStrike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168" name="文本框 14"/>
            <p:cNvSpPr txBox="1"/>
            <p:nvPr/>
          </p:nvSpPr>
          <p:spPr>
            <a:xfrm>
              <a:off x="15497" y="2565"/>
              <a:ext cx="69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defTabSz="685800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Q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7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5688" y="2332038"/>
          <a:ext cx="41576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" r:id="rId4" imgW="1663700" imgH="203200" progId="Equation.KSEE3">
                  <p:embed/>
                </p:oleObj>
              </mc:Choice>
              <mc:Fallback>
                <p:oleObj name="" r:id="rId4" imgW="1663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5688" y="2332038"/>
                        <a:ext cx="4157662" cy="50800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13350" y="2316163"/>
          <a:ext cx="3713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" r:id="rId6" imgW="1485900" imgH="215900" progId="Equation.KSEE3">
                  <p:embed/>
                </p:oleObj>
              </mc:Choice>
              <mc:Fallback>
                <p:oleObj name="" r:id="rId6" imgW="14859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3350" y="2316163"/>
                        <a:ext cx="3713163" cy="53975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5688" y="3484563"/>
          <a:ext cx="41576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" r:id="rId8" imgW="1663700" imgH="203200" progId="Equation.KSEE3">
                  <p:embed/>
                </p:oleObj>
              </mc:Choice>
              <mc:Fallback>
                <p:oleObj name="" r:id="rId8" imgW="1663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5688" y="3484563"/>
                        <a:ext cx="4157662" cy="50800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13350" y="3468688"/>
          <a:ext cx="3713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" r:id="rId10" imgW="1485900" imgH="215900" progId="Equation.KSEE3">
                  <p:embed/>
                </p:oleObj>
              </mc:Choice>
              <mc:Fallback>
                <p:oleObj name="" r:id="rId10" imgW="14859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13350" y="3468688"/>
                        <a:ext cx="3713163" cy="53975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48750" y="2413000"/>
          <a:ext cx="1111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name="" r:id="rId12" imgW="444500" imgH="177165" progId="Equation.KSEE3">
                  <p:embed/>
                </p:oleObj>
              </mc:Choice>
              <mc:Fallback>
                <p:oleObj name="" r:id="rId12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48750" y="2413000"/>
                        <a:ext cx="1111250" cy="442913"/>
                      </a:xfrm>
                      <a:prstGeom prst="rect">
                        <a:avLst/>
                      </a:prstGeom>
                      <a:solidFill>
                        <a:srgbClr val="FFE6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48750" y="3549650"/>
          <a:ext cx="11112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name="" r:id="rId14" imgW="444500" imgH="177165" progId="Equation.KSEE3">
                  <p:embed/>
                </p:oleObj>
              </mc:Choice>
              <mc:Fallback>
                <p:oleObj name="" r:id="rId14" imgW="4445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48750" y="3549650"/>
                        <a:ext cx="1111250" cy="442913"/>
                      </a:xfrm>
                      <a:prstGeom prst="rect">
                        <a:avLst/>
                      </a:prstGeom>
                      <a:solidFill>
                        <a:srgbClr val="FFE6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5807075" y="2779713"/>
            <a:ext cx="10001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0417175" y="1052513"/>
            <a:ext cx="1511300" cy="1295400"/>
            <a:chOff x="13855" y="2112"/>
            <a:chExt cx="2382" cy="2041"/>
          </a:xfrm>
        </p:grpSpPr>
        <p:sp>
          <p:nvSpPr>
            <p:cNvPr id="35" name="椭圆 34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92178" name="文本框 35"/>
            <p:cNvSpPr txBox="1"/>
            <p:nvPr/>
          </p:nvSpPr>
          <p:spPr>
            <a:xfrm>
              <a:off x="14343" y="2721"/>
              <a:ext cx="140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defTabSz="685800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P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Q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975725" y="4149725"/>
            <a:ext cx="1512888" cy="1295400"/>
            <a:chOff x="13855" y="2112"/>
            <a:chExt cx="2382" cy="2041"/>
          </a:xfrm>
        </p:grpSpPr>
        <p:sp>
          <p:nvSpPr>
            <p:cNvPr id="38" name="椭圆 37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9" name="椭圆 38"/>
            <p:cNvSpPr/>
            <p:nvPr/>
          </p:nvSpPr>
          <p:spPr>
            <a:xfrm>
              <a:off x="14136" y="2565"/>
              <a:ext cx="1347" cy="115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800" b="1" i="1" strike="noStrike" noProof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sz="2800" b="1" i="1" strike="noStrike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182" name="文本框 39"/>
            <p:cNvSpPr txBox="1"/>
            <p:nvPr/>
          </p:nvSpPr>
          <p:spPr>
            <a:xfrm>
              <a:off x="15528" y="2565"/>
              <a:ext cx="63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defTabSz="685800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P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633075" y="4149090"/>
            <a:ext cx="1512570" cy="1296035"/>
            <a:chOff x="13855" y="2112"/>
            <a:chExt cx="2382" cy="2041"/>
          </a:xfrm>
          <a:solidFill>
            <a:srgbClr val="FFFF00"/>
          </a:solidFill>
        </p:grpSpPr>
        <p:sp>
          <p:nvSpPr>
            <p:cNvPr id="42" name="椭圆 41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4343" y="2721"/>
              <a:ext cx="1406" cy="822"/>
            </a:xfrm>
            <a:prstGeom prst="rect">
              <a:avLst/>
            </a:prstGeom>
            <a:grpFill/>
          </p:spPr>
          <p:txBody>
            <a:bodyPr wrap="none" rtlCol="0" anchor="t">
              <a:spAutoFit/>
            </a:bodyPr>
            <a:lstStyle/>
            <a:p>
              <a:pPr algn="ctr" defTabSz="685800" fontAlgn="base"/>
              <a:r>
                <a:rPr lang="en-US" altLang="zh-CN" sz="2800" b="1" i="1" strike="noStrike" noProof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P</a:t>
              </a:r>
              <a:r>
                <a:rPr lang="en-US" altLang="zh-CN" sz="2800" b="1" strike="noStrike" noProof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(</a:t>
              </a:r>
              <a:r>
                <a:rPr lang="en-US" altLang="zh-CN" sz="2800" b="1" i="1" strike="noStrike" noProof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Q</a:t>
              </a:r>
              <a:r>
                <a:rPr lang="en-US" altLang="zh-CN" sz="2800" b="1" strike="noStrike" noProof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)</a:t>
              </a:r>
              <a:endParaRPr lang="en-US" altLang="zh-CN" sz="2800" b="1" strike="noStrike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5664200" y="3932238"/>
            <a:ext cx="9985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充要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45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03388" y="4652963"/>
          <a:ext cx="28575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" r:id="rId16" imgW="1143000" imgH="660400" progId="Equation.KSEE3">
                  <p:embed/>
                </p:oleObj>
              </mc:Choice>
              <mc:Fallback>
                <p:oleObj name="" r:id="rId16" imgW="1143000" imgH="6604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03388" y="4652963"/>
                        <a:ext cx="2857500" cy="165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4924425" y="4724400"/>
            <a:ext cx="3040063" cy="15684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“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充小必大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”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：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充分条件范围小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必要条件范围大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</p:spTree>
    <p:custDataLst>
      <p:tags r:id="rId18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3" grpId="0"/>
      <p:bldP spid="44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 l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5"/>
          <p:cNvSpPr>
            <a:spLocks noGrp="1"/>
          </p:cNvSpPr>
          <p:nvPr>
            <p:ph type="title"/>
          </p:nvPr>
        </p:nvSpPr>
        <p:spPr>
          <a:xfrm>
            <a:off x="-24765" y="0"/>
            <a:ext cx="7457440" cy="839470"/>
          </a:xfrm>
          <a:solidFill>
            <a:schemeClr val="accent1"/>
          </a:solidFill>
        </p:spPr>
        <p:txBody>
          <a:bodyPr vert="horz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pPr algn="ctr" fontAlgn="auto">
              <a:lnSpc>
                <a:spcPct val="100000"/>
              </a:lnSpc>
            </a:pP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新知</a:t>
            </a:r>
            <a:r>
              <a:rPr lang="en-US" altLang="zh-CN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5.</a:t>
            </a:r>
            <a:r>
              <a:rPr lang="zh-CN" altLang="en-US" sz="4000" b="1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sym typeface="黑体" panose="02010609060101010101" charset="-122"/>
              </a:rPr>
              <a:t>条件类型与集合的关系</a:t>
            </a:r>
            <a:endParaRPr lang="zh-CN" altLang="en-US" sz="4000" b="1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9788" y="1916113"/>
            <a:ext cx="4125913" cy="584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defTabSz="685800"/>
            <a:r>
              <a:rPr lang="zh-CN" altLang="en-US" sz="32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①</a:t>
            </a:r>
            <a:r>
              <a:rPr lang="en-US" altLang="zh-CN" sz="3200" b="1" i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b="1" i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充分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3200" b="1" noProof="1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94212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14875" y="1933575"/>
          <a:ext cx="115093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5" name="" r:id="rId2" imgW="431800" imgH="203200" progId="Equation.KSEE3">
                  <p:embed/>
                </p:oleObj>
              </mc:Choice>
              <mc:Fallback>
                <p:oleObj name="" r:id="rId2" imgW="431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14875" y="1933575"/>
                        <a:ext cx="1150938" cy="5429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39788" y="3794125"/>
            <a:ext cx="4125913" cy="584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685800"/>
            <a:r>
              <a:rPr lang="zh-CN" altLang="en-US" sz="32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③</a:t>
            </a:r>
            <a:r>
              <a:rPr lang="en-US" altLang="zh-CN" sz="3200" b="1" i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b="1" i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充要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3200" b="1" noProof="1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94214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30750" y="3794125"/>
          <a:ext cx="1152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" r:id="rId4" imgW="405765" imgH="203200" progId="Equation.KSEE3">
                  <p:embed/>
                </p:oleObj>
              </mc:Choice>
              <mc:Fallback>
                <p:oleObj name="" r:id="rId4" imgW="4057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0" y="3794125"/>
                        <a:ext cx="1152525" cy="577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39788" y="4451350"/>
            <a:ext cx="5351463" cy="58261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685800"/>
            <a:r>
              <a:rPr lang="zh-CN" altLang="en-US" sz="32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④</a:t>
            </a:r>
            <a:r>
              <a:rPr lang="en-US" altLang="zh-CN" sz="3200" b="1" i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b="1" i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充分不必要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3200" b="1" noProof="1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4522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24563" y="4449763"/>
          <a:ext cx="122872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" r:id="rId6" imgW="431800" imgH="228600" progId="Equation.KSEE3">
                  <p:embed/>
                </p:oleObj>
              </mc:Choice>
              <mc:Fallback>
                <p:oleObj name="" r:id="rId6" imgW="4318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24563" y="4449763"/>
                        <a:ext cx="1228725" cy="649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39788" y="5327650"/>
            <a:ext cx="5351463" cy="58261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685800"/>
            <a:r>
              <a:rPr lang="zh-CN" altLang="en-US" sz="32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⑤</a:t>
            </a:r>
            <a:r>
              <a:rPr lang="en-US" altLang="zh-CN" sz="3200" b="1" i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b="1" i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必要不充分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3200" b="1" noProof="1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4524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51538" y="5327650"/>
          <a:ext cx="12287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" r:id="rId8" imgW="431800" imgH="215900" progId="Equation.KSEE3">
                  <p:embed/>
                </p:oleObj>
              </mc:Choice>
              <mc:Fallback>
                <p:oleObj name="" r:id="rId8" imgW="4318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51538" y="5327650"/>
                        <a:ext cx="1228725" cy="612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>
            <a:spLocks noGrp="1"/>
          </p:cNvSpPr>
          <p:nvPr/>
        </p:nvSpPr>
        <p:spPr>
          <a:xfrm>
            <a:off x="839788" y="1052513"/>
            <a:ext cx="10360025" cy="6699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txBody>
          <a:bodyPr lIns="91440" tIns="45720" rIns="91440" bIns="45720" anchor="ctr"/>
          <a:lstStyle/>
          <a:p>
            <a:pPr fontAlgn="base"/>
            <a:r>
              <a:rPr lang="zh-CN" altLang="en-US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已知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p</a:t>
            </a:r>
            <a:r>
              <a:rPr lang="en-US" altLang="zh-CN" sz="3200" b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: 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x</a:t>
            </a:r>
            <a:r>
              <a:rPr lang="en-US" altLang="zh-CN" sz="3200" b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∈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P</a:t>
            </a:r>
            <a:r>
              <a:rPr lang="zh-CN" altLang="en-US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，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q</a:t>
            </a:r>
            <a:r>
              <a:rPr lang="en-US" altLang="zh-CN" sz="3200" b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: 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x</a:t>
            </a:r>
            <a:r>
              <a:rPr lang="en-US" altLang="zh-CN" sz="3200" b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∈</a:t>
            </a:r>
            <a:r>
              <a:rPr lang="en-US" altLang="zh-CN" sz="3200" b="1" i="1" strike="noStrike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Q</a:t>
            </a:r>
            <a:r>
              <a:rPr lang="zh-CN" altLang="en-US" sz="32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，</a:t>
            </a:r>
            <a:r>
              <a:rPr lang="zh-CN" altLang="en-US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则</a:t>
            </a:r>
            <a:r>
              <a:rPr lang="en-US" altLang="zh-CN" sz="3200" b="1" i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p</a:t>
            </a:r>
            <a:r>
              <a:rPr lang="en-US" altLang="zh-CN" sz="3200" b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,</a:t>
            </a:r>
            <a:r>
              <a:rPr lang="en-US" altLang="zh-CN" sz="3200" b="1" i="1" strike="noStrike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q</a:t>
            </a:r>
            <a:r>
              <a:rPr lang="zh-CN" altLang="en-US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对应的集合满足</a:t>
            </a:r>
            <a:r>
              <a:rPr lang="en-US" altLang="zh-CN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“</a:t>
            </a:r>
            <a:r>
              <a:rPr lang="zh-CN" altLang="en-US" sz="3200" b="1" strike="noStrike" noProof="1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充小必大</a:t>
            </a:r>
            <a:r>
              <a:rPr lang="en-US" altLang="zh-CN" sz="3200" b="1" strike="noStrike" noProof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”</a:t>
            </a:r>
            <a:endParaRPr lang="en-US" altLang="zh-CN" sz="3200" b="1" strike="noStrike" noProof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64526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14425" y="2578100"/>
          <a:ext cx="1660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" r:id="rId10" imgW="622300" imgH="215900" progId="Equation.KSEE3">
                  <p:embed/>
                </p:oleObj>
              </mc:Choice>
              <mc:Fallback>
                <p:oleObj name="" r:id="rId10" imgW="622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14425" y="2578100"/>
                        <a:ext cx="1660525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1" name="文本框 6"/>
          <p:cNvSpPr txBox="1"/>
          <p:nvPr/>
        </p:nvSpPr>
        <p:spPr>
          <a:xfrm>
            <a:off x="9055100" y="1771650"/>
            <a:ext cx="2684463" cy="9540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充分条件范围小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必要条件范围大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16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43213" y="2570163"/>
          <a:ext cx="29813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" r:id="rId12" imgW="1117600" imgH="215900" progId="Equation.KSEE3">
                  <p:embed/>
                </p:oleObj>
              </mc:Choice>
              <mc:Fallback>
                <p:oleObj name="" r:id="rId12" imgW="1117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43213" y="2570163"/>
                        <a:ext cx="2981325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22950" y="2554288"/>
          <a:ext cx="16605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" r:id="rId14" imgW="622300" imgH="215900" progId="Equation.KSEE3">
                  <p:embed/>
                </p:oleObj>
              </mc:Choice>
              <mc:Fallback>
                <p:oleObj name="" r:id="rId14" imgW="622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22950" y="2554288"/>
                        <a:ext cx="1660525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839788" y="3138488"/>
            <a:ext cx="4125913" cy="584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 defTabSz="685800"/>
            <a:r>
              <a:rPr lang="zh-CN" altLang="en-US" sz="3200" b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②</a:t>
            </a:r>
            <a:r>
              <a:rPr lang="en-US" altLang="zh-CN" sz="3200" b="1" i="1" noProof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b="1" i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q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200" b="1" noProof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必要</a:t>
            </a:r>
            <a:r>
              <a:rPr lang="zh-CN" altLang="en-US" sz="3200" b="1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条件：</a:t>
            </a:r>
            <a:endParaRPr lang="zh-CN" altLang="en-US" sz="3200" b="1" noProof="1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9422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14875" y="3159125"/>
          <a:ext cx="11858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name="" r:id="rId16" imgW="444500" imgH="203200" progId="Equation.KSEE3">
                  <p:embed/>
                </p:oleObj>
              </mc:Choice>
              <mc:Fallback>
                <p:oleObj name="" r:id="rId16" imgW="444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14875" y="3159125"/>
                        <a:ext cx="1185863" cy="5429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/>
          <p:cNvGrpSpPr/>
          <p:nvPr/>
        </p:nvGrpSpPr>
        <p:grpSpPr>
          <a:xfrm>
            <a:off x="7432675" y="3962400"/>
            <a:ext cx="1512888" cy="1295400"/>
            <a:chOff x="13855" y="2112"/>
            <a:chExt cx="2382" cy="2040"/>
          </a:xfrm>
        </p:grpSpPr>
        <p:sp>
          <p:nvSpPr>
            <p:cNvPr id="55" name="椭圆 54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136" y="2565"/>
              <a:ext cx="1347" cy="1154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800" b="1" i="1" strike="noStrike" noProof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en-US" altLang="zh-CN" sz="2800" b="1" i="1" strike="noStrike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229" name="文本框 56"/>
            <p:cNvSpPr txBox="1"/>
            <p:nvPr/>
          </p:nvSpPr>
          <p:spPr>
            <a:xfrm>
              <a:off x="15497" y="2565"/>
              <a:ext cx="69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defTabSz="685800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Q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9193213" y="3932238"/>
            <a:ext cx="2339975" cy="503237"/>
            <a:chOff x="8240" y="5230"/>
            <a:chExt cx="3684" cy="793"/>
          </a:xfrm>
        </p:grpSpPr>
        <p:graphicFrame>
          <p:nvGraphicFramePr>
            <p:cNvPr id="94231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240" y="5286"/>
            <a:ext cx="36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3" name="" r:id="rId18" imgW="889000" imgH="177165" progId="Equation.KSEE3">
                    <p:embed/>
                  </p:oleObj>
                </mc:Choice>
                <mc:Fallback>
                  <p:oleObj name="" r:id="rId18" imgW="889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240" y="5286"/>
                          <a:ext cx="3684" cy="737"/>
                        </a:xfrm>
                        <a:prstGeom prst="rect">
                          <a:avLst/>
                        </a:prstGeom>
                        <a:solidFill>
                          <a:srgbClr val="FEEED2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32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621" y="5230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4" name="" r:id="rId20" imgW="101600" imgH="177165" progId="Equation.KSEE3">
                    <p:embed/>
                  </p:oleObj>
                </mc:Choice>
                <mc:Fallback>
                  <p:oleObj name="" r:id="rId20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621" y="5230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256713" y="4503738"/>
          <a:ext cx="26638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" r:id="rId22" imgW="1066800" imgH="215900" progId="Equation.KSEE3">
                  <p:embed/>
                </p:oleObj>
              </mc:Choice>
              <mc:Fallback>
                <p:oleObj name="" r:id="rId22" imgW="10668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256713" y="4503738"/>
                        <a:ext cx="26638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" name="组合 66"/>
          <p:cNvGrpSpPr/>
          <p:nvPr/>
        </p:nvGrpSpPr>
        <p:grpSpPr>
          <a:xfrm>
            <a:off x="9553575" y="5013325"/>
            <a:ext cx="2409825" cy="528638"/>
            <a:chOff x="15044" y="7894"/>
            <a:chExt cx="3796" cy="834"/>
          </a:xfrm>
        </p:grpSpPr>
        <p:graphicFrame>
          <p:nvGraphicFramePr>
            <p:cNvPr id="94235" name="对象 1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044" y="7927"/>
            <a:ext cx="3797" cy="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" name="" r:id="rId24" imgW="965200" imgH="203200" progId="Equation.KSEE3">
                    <p:embed/>
                  </p:oleObj>
                </mc:Choice>
                <mc:Fallback>
                  <p:oleObj name="" r:id="rId24" imgW="9652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5044" y="7927"/>
                          <a:ext cx="3797" cy="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36" name="对象 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6630" y="7893"/>
            <a:ext cx="454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" name="" r:id="rId26" imgW="101600" imgH="177165" progId="Equation.KSEE3">
                    <p:embed/>
                  </p:oleObj>
                </mc:Choice>
                <mc:Fallback>
                  <p:oleObj name="" r:id="rId26" imgW="1016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6630" y="7893"/>
                          <a:ext cx="454" cy="7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/>
          <p:cNvGrpSpPr/>
          <p:nvPr/>
        </p:nvGrpSpPr>
        <p:grpSpPr>
          <a:xfrm>
            <a:off x="7483475" y="5372100"/>
            <a:ext cx="1512888" cy="1296988"/>
            <a:chOff x="13855" y="2112"/>
            <a:chExt cx="2382" cy="2041"/>
          </a:xfrm>
        </p:grpSpPr>
        <p:sp>
          <p:nvSpPr>
            <p:cNvPr id="69" name="椭圆 68"/>
            <p:cNvSpPr/>
            <p:nvPr/>
          </p:nvSpPr>
          <p:spPr>
            <a:xfrm>
              <a:off x="13855" y="2112"/>
              <a:ext cx="2382" cy="204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36" y="2565"/>
              <a:ext cx="1347" cy="115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800" b="1" i="1" strike="noStrike" noProof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sz="2800" b="1" i="1" strike="noStrike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240" name="文本框 70"/>
            <p:cNvSpPr txBox="1"/>
            <p:nvPr/>
          </p:nvSpPr>
          <p:spPr>
            <a:xfrm>
              <a:off x="15528" y="2565"/>
              <a:ext cx="63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 defTabSz="685800"/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P</a:t>
              </a:r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633075" y="2132013"/>
            <a:ext cx="936625" cy="57626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96258" name="标题 37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 anchorCtr="0"/>
          <a:lstStyle/>
          <a:p>
            <a:pPr algn="ctr"/>
            <a:r>
              <a:rPr lang="zh-CN" altLang="en-US" sz="3600" b="1">
                <a:solidFill>
                  <a:schemeClr val="tx1"/>
                </a:solidFill>
              </a:rPr>
              <a:t>新知演练：条件类型与集合关系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96259" name="文本框 7"/>
          <p:cNvSpPr txBox="1"/>
          <p:nvPr/>
        </p:nvSpPr>
        <p:spPr>
          <a:xfrm>
            <a:off x="900113" y="869950"/>
            <a:ext cx="10452100" cy="11731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[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例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1]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设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：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-2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10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，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：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1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－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m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1+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m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m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&gt;0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)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．若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是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不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条件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，则实数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m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的取值范围是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_______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．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9750" y="1866900"/>
          <a:ext cx="11172825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" r:id="rId1" imgW="4318000" imgH="431800" progId="Equation.KSEE3">
                  <p:embed/>
                </p:oleObj>
              </mc:Choice>
              <mc:Fallback>
                <p:oleObj name="" r:id="rId1" imgW="43180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9750" y="1866900"/>
                        <a:ext cx="11172825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5688" y="2781300"/>
          <a:ext cx="50704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" name="" r:id="rId3" imgW="2044700" imgH="203200" progId="Equation.KSEE3">
                  <p:embed/>
                </p:oleObj>
              </mc:Choice>
              <mc:Fallback>
                <p:oleObj name="" r:id="rId3" imgW="2044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5688" y="2781300"/>
                        <a:ext cx="5070475" cy="503238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5688" y="3228975"/>
          <a:ext cx="2141537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" name="" r:id="rId5" imgW="862965" imgH="457200" progId="Equation.KSEE3">
                  <p:embed/>
                </p:oleObj>
              </mc:Choice>
              <mc:Fallback>
                <p:oleObj name="" r:id="rId5" imgW="862965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5688" y="3228975"/>
                        <a:ext cx="2141537" cy="11350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 flipV="1">
            <a:off x="2503488" y="3606800"/>
            <a:ext cx="161925" cy="936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13100" y="3582988"/>
          <a:ext cx="1797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" r:id="rId7" imgW="723900" imgH="203200" progId="Equation.KSEE3">
                  <p:embed/>
                </p:oleObj>
              </mc:Choice>
              <mc:Fallback>
                <p:oleObj name="" r:id="rId7" imgW="723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3100" y="3582988"/>
                        <a:ext cx="179705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08563" y="3605213"/>
          <a:ext cx="36576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" r:id="rId9" imgW="1473200" imgH="190500" progId="Equation.KSEE3">
                  <p:embed/>
                </p:oleObj>
              </mc:Choice>
              <mc:Fallback>
                <p:oleObj name="" r:id="rId9" imgW="1473200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8563" y="3605213"/>
                        <a:ext cx="3657600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688388" y="1412875"/>
            <a:ext cx="15462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0&lt;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m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</a:t>
            </a:r>
            <a:endParaRPr lang="en-US" altLang="zh-CN" sz="32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052513" y="4400550"/>
            <a:ext cx="103568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4250" y="4545013"/>
          <a:ext cx="40671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" r:id="rId11" imgW="1638300" imgH="457200" progId="Equation.KSEE3">
                  <p:embed/>
                </p:oleObj>
              </mc:Choice>
              <mc:Fallback>
                <p:oleObj name="" r:id="rId11" imgW="16383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4250" y="4545013"/>
                        <a:ext cx="4067175" cy="1133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87938" y="4889500"/>
          <a:ext cx="2994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" name="" r:id="rId13" imgW="1206500" imgH="203200" progId="Equation.KSEE3">
                  <p:embed/>
                </p:oleObj>
              </mc:Choice>
              <mc:Fallback>
                <p:oleObj name="" r:id="rId13" imgW="1206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7938" y="4889500"/>
                        <a:ext cx="29940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83550" y="4918075"/>
          <a:ext cx="36576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" name="" r:id="rId15" imgW="1473200" imgH="190500" progId="Equation.KSEE3">
                  <p:embed/>
                </p:oleObj>
              </mc:Choice>
              <mc:Fallback>
                <p:oleObj name="" r:id="rId15" imgW="1473200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3550" y="4918075"/>
                        <a:ext cx="3657600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552450" y="475615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或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6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7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标题 37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 anchorCtr="0"/>
          <a:lstStyle/>
          <a:p>
            <a:pPr algn="ctr"/>
            <a:r>
              <a:rPr lang="zh-CN" altLang="en-US" sz="3600" b="1">
                <a:solidFill>
                  <a:schemeClr val="tx1"/>
                </a:solidFill>
              </a:rPr>
              <a:t>新知巩固：条件类型与集合关系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01378" name="文本框 7"/>
          <p:cNvSpPr txBox="1"/>
          <p:nvPr/>
        </p:nvSpPr>
        <p:spPr>
          <a:xfrm>
            <a:off x="900113" y="869950"/>
            <a:ext cx="10452100" cy="11731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[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练习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1]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设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：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1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，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：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－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)(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－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－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2)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≤0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．若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是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充分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不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必要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条件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，则实数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的取值范围是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</a:rPr>
              <a:t>_______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</a:rPr>
              <a:t>．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65213" y="1866900"/>
          <a:ext cx="101219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" name="" r:id="rId1" imgW="3911600" imgH="431800" progId="Equation.KSEE3">
                  <p:embed/>
                </p:oleObj>
              </mc:Choice>
              <mc:Fallback>
                <p:oleObj name="" r:id="rId1" imgW="39116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5213" y="1866900"/>
                        <a:ext cx="10121900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71638" y="2727325"/>
          <a:ext cx="43481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" name="" r:id="rId3" imgW="1752600" imgH="215900" progId="Equation.KSEE3">
                  <p:embed/>
                </p:oleObj>
              </mc:Choice>
              <mc:Fallback>
                <p:oleObj name="" r:id="rId3" imgW="1752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1638" y="2727325"/>
                        <a:ext cx="4348162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65225" y="3300413"/>
          <a:ext cx="19208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" name="" r:id="rId5" imgW="774065" imgH="457200" progId="Equation.KSEE3">
                  <p:embed/>
                </p:oleObj>
              </mc:Choice>
              <mc:Fallback>
                <p:oleObj name="" r:id="rId5" imgW="774065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5225" y="3300413"/>
                        <a:ext cx="1920875" cy="1135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 flipH="1" flipV="1">
            <a:off x="1992313" y="3676650"/>
            <a:ext cx="161925" cy="936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59600" y="3614738"/>
          <a:ext cx="22701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" name="" r:id="rId7" imgW="914400" imgH="203200" progId="Equation.KSEE3">
                  <p:embed/>
                </p:oleObj>
              </mc:Choice>
              <mc:Fallback>
                <p:oleObj name="" r:id="rId7" imgW="914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9600" y="3614738"/>
                        <a:ext cx="227012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112125" y="1412875"/>
            <a:ext cx="143351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0&lt;</a:t>
            </a:r>
            <a:r>
              <a:rPr lang="en-US" altLang="zh-CN" sz="3200" b="1" i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a</a:t>
            </a: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1</a:t>
            </a:r>
            <a:endParaRPr lang="en-US" altLang="zh-CN" sz="32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052513" y="4471988"/>
            <a:ext cx="103568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2513" y="4556125"/>
          <a:ext cx="4792662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" name="" r:id="rId9" imgW="1930400" imgH="457200" progId="Equation.KSEE3">
                  <p:embed/>
                </p:oleObj>
              </mc:Choice>
              <mc:Fallback>
                <p:oleObj name="" r:id="rId9" imgW="19304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52513" y="4556125"/>
                        <a:ext cx="4792662" cy="1133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72713" y="4876800"/>
          <a:ext cx="17970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" name="" r:id="rId11" imgW="723900" imgH="177165" progId="Equation.KSEE3">
                  <p:embed/>
                </p:oleObj>
              </mc:Choice>
              <mc:Fallback>
                <p:oleObj name="" r:id="rId11" imgW="7239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72713" y="4876800"/>
                        <a:ext cx="179705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552450" y="487045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或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2640013" y="4205288"/>
            <a:ext cx="161925" cy="920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071813" y="3633788"/>
            <a:ext cx="464661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且两个等号不同时成立，</a:t>
            </a:r>
            <a:endParaRPr lang="zh-CN" altLang="en-US" sz="28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845175" y="4851400"/>
          <a:ext cx="44783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name="" r:id="rId13" imgW="1803400" imgH="203200" progId="Equation.KSEE3">
                  <p:embed/>
                </p:oleObj>
              </mc:Choice>
              <mc:Fallback>
                <p:oleObj name="" r:id="rId13" imgW="1803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45175" y="4851400"/>
                        <a:ext cx="4478338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7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标题 37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 anchorCtr="0"/>
          <a:lstStyle/>
          <a:p>
            <a:pPr algn="ctr"/>
            <a:r>
              <a:rPr lang="zh-CN" altLang="en-US" sz="3600" b="1">
                <a:solidFill>
                  <a:schemeClr val="tx1"/>
                </a:solidFill>
              </a:rPr>
              <a:t>新知巩固：条件类型与集合关系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02402" name="文本框 7"/>
          <p:cNvSpPr txBox="1"/>
          <p:nvPr/>
        </p:nvSpPr>
        <p:spPr>
          <a:xfrm>
            <a:off x="623888" y="908050"/>
            <a:ext cx="10979150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[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2]“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2800" b="1" baseline="30000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&lt;9”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的必要不充分条件是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________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．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9" name="文本框 7"/>
          <p:cNvSpPr txBox="1"/>
          <p:nvPr/>
        </p:nvSpPr>
        <p:spPr>
          <a:xfrm>
            <a:off x="1271588" y="1995488"/>
            <a:ext cx="7951787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析：即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_____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“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&lt;9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”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的必要不充分条件．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0" name="文本框 7"/>
          <p:cNvSpPr txBox="1"/>
          <p:nvPr/>
        </p:nvSpPr>
        <p:spPr>
          <a:xfrm>
            <a:off x="1271588" y="2546350"/>
            <a:ext cx="8124825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析：即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_____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是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“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-3&lt;</a:t>
            </a:r>
            <a:r>
              <a:rPr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&lt;3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</a:rPr>
              <a:t>”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必要不充分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</a:rPr>
              <a:t>条件．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568575" y="3068638"/>
            <a:ext cx="596900" cy="59848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大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224338" y="3073400"/>
            <a:ext cx="596900" cy="5969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小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407" name="文本框 38"/>
          <p:cNvSpPr txBox="1"/>
          <p:nvPr/>
        </p:nvSpPr>
        <p:spPr>
          <a:xfrm>
            <a:off x="1343025" y="1473200"/>
            <a:ext cx="77279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i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.0&lt;</a:t>
            </a:r>
            <a:r>
              <a:rPr lang="en-US" altLang="zh-CN" sz="2800" b="1" i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&lt;3     B.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1&lt;</a:t>
            </a:r>
            <a:r>
              <a:rPr lang="en-US" altLang="zh-CN" sz="2800" b="1" i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&lt;3      C.</a:t>
            </a:r>
            <a:r>
              <a:rPr lang="zh-CN" altLang="en-US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﹣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</a:t>
            </a:r>
            <a:r>
              <a:rPr lang="en-US" altLang="zh-CN" sz="2800" b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2800" b="1" i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黑体" panose="02010609060101010101" charset="-122"/>
              </a:rPr>
              <a:t>≤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     D.</a:t>
            </a:r>
            <a:r>
              <a:rPr lang="zh-CN" altLang="en-US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﹣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3&lt;</a:t>
            </a:r>
            <a:r>
              <a:rPr lang="en-US" altLang="zh-CN" sz="2800" b="1" i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262626"/>
                </a:solidFill>
                <a:latin typeface="Times New Roman" panose="02020603050405020304" pitchFamily="18" charset="0"/>
                <a:ea typeface="黑体" panose="02010609060101010101" charset="-122"/>
              </a:rPr>
              <a:t>&lt;3</a:t>
            </a:r>
            <a:endParaRPr lang="en-US" altLang="zh-CN" sz="2800" b="1">
              <a:solidFill>
                <a:srgbClr val="26262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240463" y="836613"/>
            <a:ext cx="48895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C</a:t>
            </a:r>
            <a:endParaRPr lang="en-US" altLang="zh-CN" sz="3600" b="1" i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83563" y="1995488"/>
          <a:ext cx="3813175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" name="" r:id="rId1" imgW="1473200" imgH="431800" progId="Equation.KSEE3">
                  <p:embed/>
                </p:oleObj>
              </mc:Choice>
              <mc:Fallback>
                <p:oleObj name="" r:id="rId1" imgW="14732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83563" y="1995488"/>
                        <a:ext cx="3813175" cy="1116012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0" name="对象 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3288" y="3860800"/>
          <a:ext cx="68468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" r:id="rId3" imgW="2705100" imgH="215900" progId="Equation.KSEE3">
                  <p:embed/>
                </p:oleObj>
              </mc:Choice>
              <mc:Fallback>
                <p:oleObj name="" r:id="rId3" imgW="27051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3288" y="3860800"/>
                        <a:ext cx="6846887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01" name="组合 31"/>
          <p:cNvGrpSpPr>
            <a:grpSpLocks noChangeAspect="1"/>
          </p:cNvGrpSpPr>
          <p:nvPr/>
        </p:nvGrpSpPr>
        <p:grpSpPr>
          <a:xfrm>
            <a:off x="8256588" y="3932238"/>
            <a:ext cx="3613150" cy="963612"/>
            <a:chOff x="12568" y="870"/>
            <a:chExt cx="6055" cy="1617"/>
          </a:xfrm>
        </p:grpSpPr>
        <p:graphicFrame>
          <p:nvGraphicFramePr>
            <p:cNvPr id="102412" name="对象 3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568" y="875"/>
            <a:ext cx="2848" cy="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5" name="" r:id="rId5" imgW="685800" imgH="177165" progId="Equation.KSEE3">
                    <p:embed/>
                  </p:oleObj>
                </mc:Choice>
                <mc:Fallback>
                  <p:oleObj name="" r:id="rId5" imgW="6858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568" y="875"/>
                          <a:ext cx="2848" cy="7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3" name="对象 3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827" y="870"/>
            <a:ext cx="2796" cy="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" name="" r:id="rId7" imgW="673100" imgH="177165" progId="Equation.KSEE3">
                    <p:embed/>
                  </p:oleObj>
                </mc:Choice>
                <mc:Fallback>
                  <p:oleObj name="" r:id="rId7" imgW="673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827" y="870"/>
                          <a:ext cx="2796" cy="7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4" name="对象 3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569" y="1641"/>
            <a:ext cx="2570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" name="" r:id="rId9" imgW="609600" imgH="203200" progId="Equation.KSEE3">
                    <p:embed/>
                  </p:oleObj>
                </mc:Choice>
                <mc:Fallback>
                  <p:oleObj name="" r:id="rId9" imgW="6096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569" y="1641"/>
                          <a:ext cx="2570" cy="8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5" name="对象 4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827" y="1641"/>
            <a:ext cx="2625" cy="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" name="" r:id="rId11" imgW="622300" imgH="203200" progId="Equation.KSEE3">
                    <p:embed/>
                  </p:oleObj>
                </mc:Choice>
                <mc:Fallback>
                  <p:oleObj name="" r:id="rId11" imgW="6223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827" y="1641"/>
                          <a:ext cx="2625" cy="8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006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47850" y="4508500"/>
          <a:ext cx="5834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" r:id="rId13" imgW="2298700" imgH="215900" progId="Equation.KSEE3">
                  <p:embed/>
                </p:oleObj>
              </mc:Choice>
              <mc:Fallback>
                <p:oleObj name="" r:id="rId13" imgW="2298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47850" y="4508500"/>
                        <a:ext cx="5834063" cy="53975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6923088" y="3838575"/>
            <a:ext cx="827087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40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4000" b="1" i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135188" y="5013325"/>
            <a:ext cx="598488" cy="5969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小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625850" y="5013325"/>
            <a:ext cx="598488" cy="5969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大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83563" y="5184775"/>
          <a:ext cx="3024187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" r:id="rId15" imgW="1168400" imgH="431800" progId="Equation.KSEE3">
                  <p:embed/>
                </p:oleObj>
              </mc:Choice>
              <mc:Fallback>
                <p:oleObj name="" r:id="rId15" imgW="11684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83563" y="5184775"/>
                        <a:ext cx="3024187" cy="1116013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5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5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5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5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6" grpId="0"/>
      <p:bldP spid="40" grpId="0"/>
      <p:bldP spid="57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37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ctr" anchorCtr="0"/>
          <a:lstStyle/>
          <a:p>
            <a:pPr algn="ctr"/>
            <a:r>
              <a:rPr lang="zh-CN" altLang="en-US" sz="3600" b="1">
                <a:solidFill>
                  <a:schemeClr val="tx1"/>
                </a:solidFill>
              </a:rPr>
              <a:t>新知巩固：条件类型与集合关系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graphicFrame>
        <p:nvGraphicFramePr>
          <p:cNvPr id="103426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5325" y="909638"/>
          <a:ext cx="1053465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" r:id="rId1" imgW="4229100" imgH="482600" progId="Equation.KSEE3">
                  <p:embed/>
                </p:oleObj>
              </mc:Choice>
              <mc:Fallback>
                <p:oleObj name="" r:id="rId1" imgW="4229100" imgH="482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325" y="909638"/>
                        <a:ext cx="10534650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427" name="组合 2"/>
          <p:cNvGrpSpPr>
            <a:grpSpLocks noChangeAspect="1"/>
          </p:cNvGrpSpPr>
          <p:nvPr/>
        </p:nvGrpSpPr>
        <p:grpSpPr>
          <a:xfrm>
            <a:off x="4318000" y="1412875"/>
            <a:ext cx="7312025" cy="865188"/>
            <a:chOff x="1840" y="3868"/>
            <a:chExt cx="13901" cy="1644"/>
          </a:xfrm>
        </p:grpSpPr>
        <p:graphicFrame>
          <p:nvGraphicFramePr>
            <p:cNvPr id="103428" name="对象 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840" y="3868"/>
            <a:ext cx="2308" cy="1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2" name="" r:id="rId3" imgW="545465" imgH="393700" progId="Equation.KSEE3">
                    <p:embed/>
                  </p:oleObj>
                </mc:Choice>
                <mc:Fallback>
                  <p:oleObj name="" r:id="rId3" imgW="545465" imgH="3937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40" y="3868"/>
                          <a:ext cx="2308" cy="16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29" name="对象 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198" y="4378"/>
            <a:ext cx="299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3" name="" r:id="rId5" imgW="711200" imgH="177165" progId="Equation.KSEE3">
                    <p:embed/>
                  </p:oleObj>
                </mc:Choice>
                <mc:Fallback>
                  <p:oleObj name="" r:id="rId5" imgW="7112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98" y="4378"/>
                          <a:ext cx="2994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0" name="对象 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698" y="4378"/>
            <a:ext cx="2192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" name="" r:id="rId7" imgW="520700" imgH="177165" progId="Equation.KSEE3">
                    <p:embed/>
                  </p:oleObj>
                </mc:Choice>
                <mc:Fallback>
                  <p:oleObj name="" r:id="rId7" imgW="5207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98" y="4378"/>
                          <a:ext cx="2192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31" name="对象 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603" y="4265"/>
            <a:ext cx="2138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" name="" r:id="rId9" imgW="508000" imgH="177165" progId="Equation.KSEE3">
                    <p:embed/>
                  </p:oleObj>
                </mc:Choice>
                <mc:Fallback>
                  <p:oleObj name="" r:id="rId9" imgW="5080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603" y="4265"/>
                          <a:ext cx="2138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5"/>
          <p:cNvSpPr txBox="1"/>
          <p:nvPr/>
        </p:nvSpPr>
        <p:spPr>
          <a:xfrm>
            <a:off x="3309938" y="1563688"/>
            <a:ext cx="827087" cy="533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600" b="1" i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2525" y="2278063"/>
          <a:ext cx="97123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" r:id="rId11" imgW="3898900" imgH="228600" progId="Equation.KSEE3">
                  <p:embed/>
                </p:oleObj>
              </mc:Choice>
              <mc:Fallback>
                <p:oleObj name="" r:id="rId11" imgW="38989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52525" y="2278063"/>
                        <a:ext cx="9712325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52525" y="2735263"/>
          <a:ext cx="642143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" r:id="rId13" imgW="2578100" imgH="393700" progId="Equation.KSEE3">
                  <p:embed/>
                </p:oleObj>
              </mc:Choice>
              <mc:Fallback>
                <p:oleObj name="" r:id="rId13" imgW="25781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52525" y="2735263"/>
                        <a:ext cx="642143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>
          <a:xfrm>
            <a:off x="1558925" y="3571875"/>
            <a:ext cx="612775" cy="61277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小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732088" y="3571875"/>
            <a:ext cx="611188" cy="61277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大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24788" y="2886075"/>
          <a:ext cx="318611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" r:id="rId15" imgW="1231265" imgH="431800" progId="Equation.KSEE3">
                  <p:embed/>
                </p:oleObj>
              </mc:Choice>
              <mc:Fallback>
                <p:oleObj name="" r:id="rId15" imgW="1231265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24788" y="2886075"/>
                        <a:ext cx="3186112" cy="1116013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2424113" y="1471613"/>
            <a:ext cx="66944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99363" y="44450"/>
          <a:ext cx="15176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" r:id="rId17" imgW="609600" imgH="393700" progId="Equation.KSEE3">
                  <p:embed/>
                </p:oleObj>
              </mc:Choice>
              <mc:Fallback>
                <p:oleObj name="" r:id="rId17" imgW="6096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99363" y="44450"/>
                        <a:ext cx="1517650" cy="969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0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5325" y="4254500"/>
          <a:ext cx="926941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" r:id="rId19" imgW="3721100" imgH="457200" progId="Equation.KSEE3">
                  <p:embed/>
                </p:oleObj>
              </mc:Choice>
              <mc:Fallback>
                <p:oleObj name="" r:id="rId19" imgW="37211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5325" y="4254500"/>
                        <a:ext cx="9269413" cy="1125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1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98563" y="5449888"/>
          <a:ext cx="689768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" r:id="rId21" imgW="2768600" imgH="215900" progId="Equation.KSEE3">
                  <p:embed/>
                </p:oleObj>
              </mc:Choice>
              <mc:Fallback>
                <p:oleObj name="" r:id="rId21" imgW="2768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98563" y="5449888"/>
                        <a:ext cx="6897687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/>
          <p:cNvSpPr/>
          <p:nvPr/>
        </p:nvSpPr>
        <p:spPr>
          <a:xfrm>
            <a:off x="2424113" y="5927725"/>
            <a:ext cx="611188" cy="61277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大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079875" y="5949950"/>
            <a:ext cx="612775" cy="61118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800" b="1" strike="noStrike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小</a:t>
            </a:r>
            <a:endParaRPr lang="zh-CN" altLang="en-US" sz="2800" b="1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855913" y="5372100"/>
            <a:ext cx="16367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51763" y="4878388"/>
          <a:ext cx="31654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" r:id="rId23" imgW="1270000" imgH="190500" progId="Equation.KSEE3">
                  <p:embed/>
                </p:oleObj>
              </mc:Choice>
              <mc:Fallback>
                <p:oleObj name="" r:id="rId23" imgW="1270000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751763" y="4878388"/>
                        <a:ext cx="3165475" cy="469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2230438" y="5411788"/>
            <a:ext cx="1214437" cy="4841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&gt;-4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71588" y="5927725"/>
            <a:ext cx="1214437" cy="485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b≥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-5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25"/>
    </p:custData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" grpId="0"/>
      <p:bldP spid="7" grpId="0"/>
      <p:bldP spid="17" grpId="0"/>
      <p:bldP spid="18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文本框 6"/>
          <p:cNvSpPr txBox="1"/>
          <p:nvPr>
            <p:custDataLst>
              <p:tags r:id="rId1"/>
            </p:custDataLst>
          </p:nvPr>
        </p:nvSpPr>
        <p:spPr>
          <a:xfrm>
            <a:off x="911225" y="0"/>
            <a:ext cx="5203825" cy="812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44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课堂小结</a:t>
            </a:r>
            <a:endParaRPr lang="zh-CN" altLang="en-US" sz="4400">
              <a:solidFill>
                <a:schemeClr val="bg1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7282" name="文本框 16"/>
          <p:cNvSpPr txBox="1"/>
          <p:nvPr/>
        </p:nvSpPr>
        <p:spPr>
          <a:xfrm>
            <a:off x="984250" y="939800"/>
            <a:ext cx="10826750" cy="3338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1.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会判断给定命题的真假；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2.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会证明充要条件；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3.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理解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“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充小必大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”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，会由已知的条件类型判断对应集合的关系，从而求参数；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4.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会由给定的条件、结论的互推关系确定属于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4</a:t>
            </a:r>
            <a:r>
              <a:rPr lang="zh-CN" altLang="en-US" sz="3200" b="1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类条件关系的哪一种。</a:t>
            </a:r>
            <a:endParaRPr lang="zh-CN" altLang="en-US" sz="3200" b="1"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课后作业</a:t>
            </a:r>
            <a:endParaRPr lang="zh-CN" altLang="en-US"/>
          </a:p>
        </p:txBody>
      </p:sp>
      <p:graphicFrame>
        <p:nvGraphicFramePr>
          <p:cNvPr id="97287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5494" y="1196658"/>
          <a:ext cx="1064006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" r:id="rId1" imgW="4203065" imgH="215900" progId="Equation.KSEE3">
                  <p:embed/>
                </p:oleObj>
              </mc:Choice>
              <mc:Fallback>
                <p:oleObj name="" r:id="rId1" imgW="4203065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5494" y="1196658"/>
                        <a:ext cx="10640060" cy="539750"/>
                      </a:xfrm>
                      <a:prstGeom prst="rect">
                        <a:avLst/>
                      </a:prstGeom>
                      <a:noFill/>
                      <a:ln w="38100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8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5336" y="1916748"/>
          <a:ext cx="9314133" cy="17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" r:id="rId3" imgW="3721100" imgH="698500" progId="Equation.KSEE3">
                  <p:embed/>
                </p:oleObj>
              </mc:Choice>
              <mc:Fallback>
                <p:oleObj name="" r:id="rId3" imgW="3721100" imgH="698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336" y="1916748"/>
                        <a:ext cx="9314133" cy="1728000"/>
                      </a:xfrm>
                      <a:prstGeom prst="rect">
                        <a:avLst/>
                      </a:prstGeom>
                      <a:noFill/>
                      <a:ln w="38100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39470" y="3717290"/>
            <a:ext cx="30276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3.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完成全优</a:t>
            </a:r>
            <a:r>
              <a:rPr lang="en-US" altLang="zh-CN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1.4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标题 1"/>
          <p:cNvSpPr>
            <a:spLocks noGrp="1"/>
          </p:cNvSpPr>
          <p:nvPr>
            <p:ph type="title" hasCustomPrompt="1"/>
          </p:nvPr>
        </p:nvSpPr>
        <p:spPr/>
        <p:txBody>
          <a:bodyPr vert="horz" wrap="square" lIns="91440" tIns="45720" rIns="91440" bIns="45720" anchor="ctr" anchorCtr="0"/>
          <a:lstStyle/>
          <a:p>
            <a:pPr defTabSz="685800">
              <a:buNone/>
            </a:pPr>
            <a:r>
              <a:rPr lang="en-US" altLang="zh-CN" sz="8800" kern="1200">
                <a:latin typeface="+mj-lt"/>
                <a:ea typeface="+mj-ea"/>
                <a:cs typeface="+mj-cs"/>
              </a:rPr>
              <a:t>FIGHTING</a:t>
            </a:r>
            <a:endParaRPr lang="en-US" altLang="zh-CN" sz="8800" kern="1200">
              <a:latin typeface="+mj-lt"/>
              <a:ea typeface="+mj-ea"/>
              <a:cs typeface="+mj-cs"/>
            </a:endParaRPr>
          </a:p>
        </p:txBody>
      </p:sp>
      <p:pic>
        <p:nvPicPr>
          <p:cNvPr id="110594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680700" y="11125200"/>
            <a:ext cx="304800" cy="215900"/>
          </a:xfrm>
          <a:prstGeom prst="cube">
            <a:avLst/>
          </a:prstGeom>
        </p:spPr>
      </p:pic>
    </p:spTree>
    <p:custDataLst>
      <p:tags r:id="rId2"/>
    </p:custDataLst>
  </p:cSld>
  <p:clrMapOvr>
    <a:masterClrMapping/>
  </p:clrMapOvr>
  <p:transition>
    <p:wedge/>
  </p:transition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5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6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8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9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10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3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14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15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6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17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18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19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20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TEMPLATE_CATEGORY" val="custom"/>
  <p:tag name="KSO_WM_TEMPLATE_INDEX" val="277"/>
</p:tagLst>
</file>

<file path=ppt/tags/tag23.xml><?xml version="1.0" encoding="utf-8"?>
<p:tagLst xmlns:p="http://schemas.openxmlformats.org/presentationml/2006/main">
  <p:tag name="KSO_WM_TEMPLATE_CATEGORY" val="custom"/>
  <p:tag name="KSO_WM_TEMPLATE_INDEX" val="277"/>
</p:tagLst>
</file>

<file path=ppt/tags/tag24.xml><?xml version="1.0" encoding="utf-8"?>
<p:tagLst xmlns:p="http://schemas.openxmlformats.org/presentationml/2006/main">
  <p:tag name="KSO_WM_TEMPLATE_CATEGORY" val="custom"/>
  <p:tag name="KSO_WM_TEMPLATE_INDEX" val="277"/>
</p:tagLst>
</file>

<file path=ppt/tags/tag25.xml><?xml version="1.0" encoding="utf-8"?>
<p:tagLst xmlns:p="http://schemas.openxmlformats.org/presentationml/2006/main">
  <p:tag name="KSO_WM_TEMPLATE_CATEGORY" val="custom"/>
  <p:tag name="KSO_WM_TEMPLATE_INDEX" val="277"/>
</p:tagLst>
</file>

<file path=ppt/tags/tag26.xml><?xml version="1.0" encoding="utf-8"?>
<p:tagLst xmlns:p="http://schemas.openxmlformats.org/presentationml/2006/main">
  <p:tag name="KSO_WM_TEMPLATE_CATEGORY" val="custom"/>
  <p:tag name="KSO_WM_TEMPLATE_INDEX" val="277"/>
</p:tagLst>
</file>

<file path=ppt/tags/tag27.xml><?xml version="1.0" encoding="utf-8"?>
<p:tagLst xmlns:p="http://schemas.openxmlformats.org/presentationml/2006/main">
  <p:tag name="KSO_WM_TEMPLATE_CATEGORY" val="custom"/>
  <p:tag name="KSO_WM_TEMPLATE_INDEX" val="277"/>
</p:tagLst>
</file>

<file path=ppt/tags/tag2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2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30.xml><?xml version="1.0" encoding="utf-8"?>
<p:tagLst xmlns:p="http://schemas.openxmlformats.org/presentationml/2006/main">
  <p:tag name="KSO_WM_TEMPLATE_CATEGORY" val="custom"/>
  <p:tag name="KSO_WM_TEMPLATE_INDEX" val="277"/>
</p:tagLst>
</file>

<file path=ppt/tags/tag31.xml><?xml version="1.0" encoding="utf-8"?>
<p:tagLst xmlns:p="http://schemas.openxmlformats.org/presentationml/2006/main">
  <p:tag name="KSO_WM_TEMPLATE_CATEGORY" val="custom"/>
  <p:tag name="KSO_WM_TEMPLATE_INDEX" val="277"/>
</p:tagLst>
</file>

<file path=ppt/tags/tag3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3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3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3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674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77"/>
  <p:tag name="KSO_WM_UNIT_CLEAR" val="1"/>
  <p:tag name="KSO_WM_UNIT_COMPATIBLE" val="0"/>
  <p:tag name="KSO_WM_UNIT_HIGHLIGHT" val="0"/>
  <p:tag name="KSO_WM_UNIT_ID" val="custom501_13*a*1"/>
  <p:tag name="KSO_WM_UNIT_INDEX" val="1"/>
  <p:tag name="KSO_WM_UNIT_ISCONTENTSTITLE" val="0"/>
  <p:tag name="KSO_WM_UNIT_LAYERLEVEL" val="1"/>
  <p:tag name="KSO_WM_UNIT_PRESET_TEXT_INDEX" val="3"/>
  <p:tag name="KSO_WM_UNIT_PRESET_TEXT_LEN" val="17"/>
  <p:tag name="KSO_WM_UNIT_TYPE" val="a"/>
  <p:tag name="KSO_WM_UNIT_VALUE" val="14"/>
</p:tagLst>
</file>

<file path=ppt/tags/tag37.xml><?xml version="1.0" encoding="utf-8"?>
<p:tagLst xmlns:p="http://schemas.openxmlformats.org/presentationml/2006/main">
  <p:tag name="KSO_WM_BEAUTIFY_FLAG" val="#wm#"/>
  <p:tag name="KSO_WM_DIAGRAM_GROUP_CODE" val="l1-2"/>
  <p:tag name="KSO_WM_SLIDE_ID" val="custom277_13"/>
  <p:tag name="KSO_WM_SLIDE_INDEX" val="13"/>
  <p:tag name="KSO_WM_SLIDE_ITEM_CNT" val="1"/>
  <p:tag name="KSO_WM_SLIDE_LAYOUT" val="a_l"/>
  <p:tag name="KSO_WM_SLIDE_LAYOUT_CNT" val="1_1"/>
  <p:tag name="KSO_WM_SLIDE_POSITION" val="262*235"/>
  <p:tag name="KSO_WM_SLIDE_SIZE" val="197*149"/>
  <p:tag name="KSO_WM_SLIDE_TYPE" val="text"/>
  <p:tag name="KSO_WM_TAG_VERSION" val="1.0"/>
  <p:tag name="KSO_WM_TEMPLATE_CATEGORY" val="custom"/>
  <p:tag name="KSO_WM_TEMPLATE_INDEX" val="277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</p:tagLst>
</file>

<file path=ppt/tags/tag40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5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WPS 演示</Application>
  <PresentationFormat/>
  <Paragraphs>236</Paragraphs>
  <Slides>17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127</vt:i4>
      </vt:variant>
      <vt:variant>
        <vt:lpstr>幻灯片标题</vt:lpstr>
      </vt:variant>
      <vt:variant>
        <vt:i4>17</vt:i4>
      </vt:variant>
    </vt:vector>
  </HeadingPairs>
  <TitlesOfParts>
    <vt:vector size="158" baseType="lpstr">
      <vt:lpstr>Arial</vt:lpstr>
      <vt:lpstr>宋体</vt:lpstr>
      <vt:lpstr>Wingdings</vt:lpstr>
      <vt:lpstr>Times New Roman</vt:lpstr>
      <vt:lpstr>黑体</vt:lpstr>
      <vt:lpstr>Calibri</vt:lpstr>
      <vt:lpstr>微软雅黑</vt:lpstr>
      <vt:lpstr>Arial Unicode MS</vt:lpstr>
      <vt:lpstr>Calibri</vt:lpstr>
      <vt:lpstr>5_Office 主题</vt:lpstr>
      <vt:lpstr>3_Office 主题</vt:lpstr>
      <vt:lpstr>8_Office 主题</vt:lpstr>
      <vt:lpstr>6_Office 主题</vt:lpstr>
      <vt:lpstr>7_Office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新知3.四种条件关系</vt:lpstr>
      <vt:lpstr>新知巩固：四种条件关系P22</vt:lpstr>
      <vt:lpstr>PowerPoint 演示文稿</vt:lpstr>
      <vt:lpstr>新知演练：四种条件关系P21</vt:lpstr>
      <vt:lpstr>新知4.充要条件的证明</vt:lpstr>
      <vt:lpstr>新知演练.充要条件的证明</vt:lpstr>
      <vt:lpstr>新知演练.充要条件的证明</vt:lpstr>
      <vt:lpstr>新知5.条件类型与集合的关系</vt:lpstr>
      <vt:lpstr>新知5.条件类型与集合的关系</vt:lpstr>
      <vt:lpstr>新知演练：条件类型与集合关系</vt:lpstr>
      <vt:lpstr>新知巩固：条件类型与集合关系</vt:lpstr>
      <vt:lpstr>新知巩固：条件类型与集合关系</vt:lpstr>
      <vt:lpstr>新知巩固：条件类型与集合关系</vt:lpstr>
      <vt:lpstr>PowerPoint 演示文稿</vt:lpstr>
      <vt:lpstr>课后作业</vt:lpstr>
      <vt:lpstr>FIGHTING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3</cp:revision>
  <cp:lastPrinted>2022-07-29T14:51:00Z</cp:lastPrinted>
  <dcterms:created xsi:type="dcterms:W3CDTF">2022-07-29T14:51:00Z</dcterms:created>
  <dcterms:modified xsi:type="dcterms:W3CDTF">2025-02-24T12:28:07Z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EB3F114834EC4B2AA459F16ABF895003_12</vt:lpwstr>
  </property>
  <property fmtid="{D5CDD505-2E9C-101B-9397-08002B2CF9AE}" pid="3" name="KSOProductBuildVer">
    <vt:lpwstr>2052-12.1.0.20305</vt:lpwstr>
  </property>
</Properties>
</file>